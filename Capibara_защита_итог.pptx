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3" r:id="rId7"/>
    <p:sldId id="267" r:id="rId8"/>
    <p:sldId id="271" r:id="rId9"/>
    <p:sldId id="272" r:id="rId10"/>
  </p:sldIdLst>
  <p:sldSz cx="15240000" cy="85725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Проект Capibara. Модель маркетплейса на PostgreSQL 16. Расскажем о модели, обработке данных, сохранённых SQL-результатах и текущем статусе интеграции.</a:t>
            </a:r>
          </a:p>
          <a:p>
            <a:r>
              <a:t>Сценарий выступления: Рассказ около четырёх минут. A начинает: задача, слои и зерно.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C:\Users\Соня\python\PycharmProjects\rwb_hack\.worktrees\d-quality\docs\handout.md; C:\Users\Соня\python\PycharmProjects\rwb_hack\.worktrees\d-quality\docs\data-quality.md. Профиль B подтверждает 550 759 строк. Это объём исходной поставки, а не показатель производительности.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C:\Users\Соня\python\PycharmProjects\rwb_hack\.worktrees\d-quality\model\10_ddl.sql; C:\Users\Соня\python\PycharmProjects\rwb_hack\.worktrees\d-quality\model\20_1_dims.sql; C:\Users\Соня\python\PycharmProjects\rwb_hack\.worktrees\d-quality\model\20_2_orders.sql; C:\Users\Соня\python\PycharmProjects\rwb_hack\.worktrees\d-quality\model\20_3_order_children.sql; C:\Users\Соня\python\PycharmProjects\rwb_hack\.worktrees\d-quality\model\20_4_calendar.sql. Схема предоставлена пользователем. Уточнение: стрелка build.sh обозначает целевой маршрут; текущий общий build ссылается на удалённый ETL-файл. Подробнее на слайде 13.</a:t>
            </a:r>
          </a:p>
          <a:p>
            <a:r>
              <a:t>Сценарий выступления: A, до 0:40: показать схему. Во время демонстрации build объяснить транзакцию и неизменяемость 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C:\Users\Соня\python\PycharmProjects\rwb_hack\.worktrees\d-quality\model\20_1_dims.sql; C:\Users\Соня\python\PycharmProjects\rwb_hack\.worktrees\d-quality\model\20_2_orders.sql; C:\Users\Соня\python\PycharmProjects\rwb_hack\.worktrees\d-quality\model\20_3_order_children.sql; C:\Users\Соня\python\PycharmProjects\rwb_hack\.worktrees\d-quality\model\20_4_calendar.sql; C:\Users\Соня\python\PycharmProjects\rwb_hack\.worktrees\d-quality\team\B.md. B сохранил результаты двух прогонов с совпадением десяти подписей core. Это отдельная проверка B, а не новая сквозная приёмка общего build.</a:t>
            </a:r>
          </a:p>
          <a:p>
            <a:r>
              <a:t>Сценарий выступления: B, около 1:10: порядок загрузки, pg_input_is_valid, карантин с причиной, баланс источников.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C:\Users\Соня\python\PycharmProjects\rwb_hack\.worktrees\d-quality\docs\metrics.md; C:\Users\Соня\python\PycharmProjects\rwb_hack\.worktrees\d-quality\queries\03_average_order.sql; C:\Users\Соня\python\PycharmProjects\rwb_hack\.worktrees\d-quality\queries\04_repeat_customers.sql; C:\Users\Соня\python\PycharmProjects\rwb_hack\.worktrees\d-quality\queries\05_category_revenue.sql.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C:\Users\Соня\python\PycharmProjects\rwb_hack\.worktrees\d-quality\results\block_a\verification.json; C:\Users\Соня\python\PycharmProjects\rwb_hack\.worktrees\d-quality\results\block_a\README.md; C:\Users\Соня\python\PycharmProjects\rwb_hack\.worktrees\d-quality\docs\metrics.md. Отчёт C: source_commit 109c9a96dca64491b28e2eacf964a55f271afc81, контракт 1.1, два успешных стандартных build, пять CSV идентичны. Эти результаты относятся к этой версии и не доказывают готовность текущей четырёхфайловой интеграции.</a:t>
            </a:r>
          </a:p>
          <a:p>
            <a:r>
              <a:t>Сценарий выступления: C, около 1:50: показать Q1 и назвать ловушки среднего чека и ключа покупателя.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Распределение имён и контрактов задано пользователем. Зоны ответственности подтверждены AGENTS.md проекта.</a:t>
            </a:r>
          </a:p>
          <a:p>
            <a:r>
              <a:t>Сценарий выступления: Каждый участник готовит одну аномалию: A — review_id, B — даты, C — нулевой месяц и unknown, D — 775 заказов без позиций.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Дополнительный источник: предоставленный пользователем протокол «Защита модели Capibara», 28.10.2026. Протокол сообщает об успешном build и проверках 6/6 в a/fix-build, PR #15. Слияние и повторная приёмка main отдельно не подтверждены.Источники: C:\Users\Соня\python\PycharmProjects\rwb_hack\.worktrees\d-quality\docs\ai\A.md; C:\Users\Соня\python\PycharmProjects\rwb_hack\.worktrees\d-quality\docs\ai\B.md; C:\Users\Соня\python\PycharmProjects\rwb_hack\.worktrees\d-quality\docs\ai\C.md; C:\Users\Соня\python\PycharmProjects\rwb_hack\.worktrees\d-quality\docs\ai\d.md. Конкретный пример: проверки D выявили обрезание пробелов; правило сохранения текста восстановлено в ETL B. Это пример проверки предложения ИИ, а не обещание безошибочности.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Дополнительный источник: предоставленный пользователем протокол «Защита модели Capibara», 28.10.2026. Протокол сообщает об успешном build и проверках 6/6 в a/fix-build, PR #15. Слияние и повторная приёмка main отдельно не подтверждены.Источники: C:\Users\Соня\python\PycharmProjects\rwb_hack\.worktrees\d-quality\docs\ai\A.md; C:\Users\Соня\python\PycharmProjects\rwb_hack\.worktrees\d-quality\docs\ai\B.md; C:\Users\Соня\python\PycharmProjects\rwb_hack\.worktrees\d-quality\docs\ai\C.md; C:\Users\Соня\python\PycharmProjects\rwb_hack\.worktrees\d-quality\docs\ai\d.md. Конкретный пример: проверки D выявили обрезание пробелов; правило сохранения текста восстановлено в ETL B. Это пример проверки предложения ИИ, а не обещание безошибочности.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851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8A01B1-344D-4F4E-AC17-FE32A2539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B98927E-A4C7-4E7B-A428-B269291A9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3DFE29-A5B7-4CF2-A761-679C2036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E341FC9-C1CD-43D4-9336-ED69C003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A738A5C-F7A0-43A8-BD6F-C4498885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B314CE-9D1E-4B27-947E-87882E01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F70EBE-0709-499B-A5CF-246DC2255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0498B4C-81E8-4BD2-BF56-FA09FFCDD6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0B56458-3649-4662-8DBF-26906D9F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7D7E53A-AF83-42C4-8EBF-30AEC67E3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DF06299-EEAF-44AD-BE29-681E8E04B0C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7C89C2-F4A5-4CC3-A48D-CA3266C64028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EB6FAF-49E2-4CE2-8A87-7A89ACDF072A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9B99C6-3AE9-4B45-AA24-A27C658A23B3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D36B62-5487-448E-B0BB-97A9F828380D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662A93-6209-4A6F-BC50-B86F71D3E8A4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6C4F2E0-58EC-43EF-B47C-6E8E5042D1DC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2382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700" b="1">
                <a:solidFill>
                  <a:srgbClr val="F6F6FA"/>
                </a:solidFill>
              </a:defRPr>
            </a:defPPr>
            <a:lvl1pPr>
              <a:defRPr sz="8700" b="1">
                <a:solidFill>
                  <a:srgbClr val="F6F6FA"/>
                </a:solidFill>
              </a:defRPr>
            </a:lvl1pPr>
            <a:lvl2pPr>
              <a:defRPr sz="8700" b="1">
                <a:solidFill>
                  <a:srgbClr val="F6F6FA"/>
                </a:solidFill>
              </a:defRPr>
            </a:lvl2pPr>
            <a:lvl3pPr>
              <a:defRPr sz="8700" b="1">
                <a:solidFill>
                  <a:srgbClr val="F6F6FA"/>
                </a:solidFill>
              </a:defRPr>
            </a:lvl3pPr>
            <a:lvl4pPr>
              <a:defRPr sz="8700" b="1">
                <a:solidFill>
                  <a:srgbClr val="F6F6FA"/>
                </a:solidFill>
              </a:defRPr>
            </a:lvl4pPr>
            <a:lvl5pPr>
              <a:defRPr sz="8700" b="1">
                <a:solidFill>
                  <a:srgbClr val="F6F6FA"/>
                </a:solidFill>
              </a:defRPr>
            </a:lvl5pPr>
            <a:lvl6pPr>
              <a:defRPr sz="8700" b="1">
                <a:solidFill>
                  <a:srgbClr val="F6F6FA"/>
                </a:solidFill>
              </a:defRPr>
            </a:lvl6pPr>
            <a:lvl7pPr>
              <a:defRPr sz="8700" b="1">
                <a:solidFill>
                  <a:srgbClr val="F6F6FA"/>
                </a:solidFill>
              </a:defRPr>
            </a:lvl7pPr>
            <a:lvl8pPr>
              <a:defRPr sz="8700" b="1">
                <a:solidFill>
                  <a:srgbClr val="F6F6FA"/>
                </a:solidFill>
              </a:defRPr>
            </a:lvl8pPr>
            <a:lvl9pPr>
              <a:defRPr sz="8700" b="1">
                <a:solidFill>
                  <a:srgbClr val="F6F6FA"/>
                </a:solidFill>
              </a:defRPr>
            </a:lvl9pPr>
          </a:lstStyle>
          <a:p>
            <a:pPr>
              <a:defRPr sz="8700" b="1">
                <a:solidFill>
                  <a:srgbClr val="F6F6FA"/>
                </a:solidFill>
              </a:defRPr>
            </a:pPr>
            <a:r>
              <a:rPr sz="8700" b="1" dirty="0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2698A9-A507-4C4E-B575-6FDD4138F573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13811250" cy="1952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75" b="1">
                <a:solidFill>
                  <a:srgbClr val="F6F6FA"/>
                </a:solidFill>
              </a:defRPr>
            </a:defPPr>
            <a:lvl1pPr>
              <a:defRPr sz="5775" b="1">
                <a:solidFill>
                  <a:srgbClr val="F6F6FA"/>
                </a:solidFill>
              </a:defRPr>
            </a:lvl1pPr>
            <a:lvl2pPr>
              <a:defRPr sz="5775" b="1">
                <a:solidFill>
                  <a:srgbClr val="F6F6FA"/>
                </a:solidFill>
              </a:defRPr>
            </a:lvl2pPr>
            <a:lvl3pPr>
              <a:defRPr sz="5775" b="1">
                <a:solidFill>
                  <a:srgbClr val="F6F6FA"/>
                </a:solidFill>
              </a:defRPr>
            </a:lvl3pPr>
            <a:lvl4pPr>
              <a:defRPr sz="5775" b="1">
                <a:solidFill>
                  <a:srgbClr val="F6F6FA"/>
                </a:solidFill>
              </a:defRPr>
            </a:lvl4pPr>
            <a:lvl5pPr>
              <a:defRPr sz="5775" b="1">
                <a:solidFill>
                  <a:srgbClr val="F6F6FA"/>
                </a:solidFill>
              </a:defRPr>
            </a:lvl5pPr>
            <a:lvl6pPr>
              <a:defRPr sz="5775" b="1">
                <a:solidFill>
                  <a:srgbClr val="F6F6FA"/>
                </a:solidFill>
              </a:defRPr>
            </a:lvl6pPr>
            <a:lvl7pPr>
              <a:defRPr sz="5775" b="1">
                <a:solidFill>
                  <a:srgbClr val="F6F6FA"/>
                </a:solidFill>
              </a:defRPr>
            </a:lvl7pPr>
            <a:lvl8pPr>
              <a:defRPr sz="5775" b="1">
                <a:solidFill>
                  <a:srgbClr val="F6F6FA"/>
                </a:solidFill>
              </a:defRPr>
            </a:lvl8pPr>
            <a:lvl9pPr>
              <a:defRPr sz="5775" b="1">
                <a:solidFill>
                  <a:srgbClr val="F6F6FA"/>
                </a:solidFill>
              </a:defRPr>
            </a:lvl9pPr>
          </a:lstStyle>
          <a:p>
            <a:pPr>
              <a:defRPr sz="5775" b="1">
                <a:solidFill>
                  <a:srgbClr val="F6F6FA"/>
                </a:solidFill>
              </a:defRPr>
            </a:pPr>
            <a:r>
              <a:rPr sz="5775" b="1">
                <a:solidFill>
                  <a:srgbClr val="F6F6FA"/>
                </a:solidFill>
              </a:rPr>
              <a:t>МОДЕЛЬ</a:t>
            </a:r>
          </a:p>
          <a:p>
            <a:pPr>
              <a:defRPr sz="5775" b="1">
                <a:solidFill>
                  <a:srgbClr val="F6F6FA"/>
                </a:solidFill>
              </a:defRPr>
            </a:pPr>
            <a:r>
              <a:rPr sz="5775" b="1">
                <a:solidFill>
                  <a:srgbClr val="F6F6FA"/>
                </a:solidFill>
              </a:rPr>
              <a:t>МАРКЕТПЛЕЙСА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CC7BEB-13F0-4FE4-9A7E-636DFC4A61A3}"/>
              </a:ext>
            </a:extLst>
          </p:cNvPr>
          <p:cNvSpPr>
            <a:spLocks noGrp="1"/>
          </p:cNvSpPr>
          <p:nvPr/>
        </p:nvSpPr>
        <p:spPr>
          <a:xfrm>
            <a:off x="704850" y="5667375"/>
            <a:ext cx="13335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7295FF"/>
                </a:solidFill>
              </a:defRPr>
            </a:defPPr>
            <a:lvl1pPr>
              <a:defRPr sz="2700" b="0">
                <a:solidFill>
                  <a:srgbClr val="7295FF"/>
                </a:solidFill>
              </a:defRPr>
            </a:lvl1pPr>
            <a:lvl2pPr>
              <a:defRPr sz="2700" b="0">
                <a:solidFill>
                  <a:srgbClr val="7295FF"/>
                </a:solidFill>
              </a:defRPr>
            </a:lvl2pPr>
            <a:lvl3pPr>
              <a:defRPr sz="2700" b="0">
                <a:solidFill>
                  <a:srgbClr val="7295FF"/>
                </a:solidFill>
              </a:defRPr>
            </a:lvl3pPr>
            <a:lvl4pPr>
              <a:defRPr sz="2700" b="0">
                <a:solidFill>
                  <a:srgbClr val="7295FF"/>
                </a:solidFill>
              </a:defRPr>
            </a:lvl4pPr>
            <a:lvl5pPr>
              <a:defRPr sz="2700" b="0">
                <a:solidFill>
                  <a:srgbClr val="7295FF"/>
                </a:solidFill>
              </a:defRPr>
            </a:lvl5pPr>
            <a:lvl6pPr>
              <a:defRPr sz="2700" b="0">
                <a:solidFill>
                  <a:srgbClr val="7295FF"/>
                </a:solidFill>
              </a:defRPr>
            </a:lvl6pPr>
            <a:lvl7pPr>
              <a:defRPr sz="2700" b="0">
                <a:solidFill>
                  <a:srgbClr val="7295FF"/>
                </a:solidFill>
              </a:defRPr>
            </a:lvl7pPr>
            <a:lvl8pPr>
              <a:defRPr sz="2700" b="0">
                <a:solidFill>
                  <a:srgbClr val="7295FF"/>
                </a:solidFill>
              </a:defRPr>
            </a:lvl8pPr>
            <a:lvl9pPr>
              <a:defRPr sz="2700" b="0">
                <a:solidFill>
                  <a:srgbClr val="7295FF"/>
                </a:solidFill>
              </a:defRPr>
            </a:lvl9pPr>
          </a:lstStyle>
          <a:p>
            <a:pPr>
              <a:defRPr sz="2700" b="0">
                <a:solidFill>
                  <a:srgbClr val="7295FF"/>
                </a:solidFill>
              </a:defRPr>
            </a:pPr>
            <a:r>
              <a:rPr sz="2700" b="0" dirty="0" err="1">
                <a:solidFill>
                  <a:srgbClr val="7295FF"/>
                </a:solidFill>
              </a:rPr>
              <a:t>Архитектура</a:t>
            </a:r>
            <a:r>
              <a:rPr sz="2700" b="0" dirty="0">
                <a:solidFill>
                  <a:srgbClr val="7295FF"/>
                </a:solidFill>
              </a:rPr>
              <a:t> </a:t>
            </a:r>
            <a:r>
              <a:rPr sz="2700" b="0" dirty="0" err="1">
                <a:solidFill>
                  <a:srgbClr val="7295FF"/>
                </a:solidFill>
              </a:rPr>
              <a:t>данных</a:t>
            </a:r>
            <a:r>
              <a:rPr sz="2700" b="0" dirty="0">
                <a:solidFill>
                  <a:srgbClr val="7295FF"/>
                </a:solidFill>
              </a:rPr>
              <a:t> и </a:t>
            </a:r>
            <a:r>
              <a:rPr sz="2700" b="0" dirty="0" err="1">
                <a:solidFill>
                  <a:srgbClr val="7295FF"/>
                </a:solidFill>
              </a:rPr>
              <a:t>результаты</a:t>
            </a:r>
            <a:r>
              <a:rPr sz="2700" b="0" dirty="0">
                <a:solidFill>
                  <a:srgbClr val="7295FF"/>
                </a:solidFill>
              </a:rPr>
              <a:t> Q1–Q5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9DD3111-3596-4E1F-8476-29880E8E843D}"/>
              </a:ext>
            </a:extLst>
          </p:cNvPr>
          <p:cNvSpPr>
            <a:spLocks noGrp="1"/>
          </p:cNvSpPr>
          <p:nvPr/>
        </p:nvSpPr>
        <p:spPr>
          <a:xfrm>
            <a:off x="704850" y="6648450"/>
            <a:ext cx="12382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AAAEBE"/>
                </a:solidFill>
              </a:defRPr>
            </a:defPPr>
            <a:lvl1pPr>
              <a:defRPr sz="2025" b="0">
                <a:solidFill>
                  <a:srgbClr val="AAAEBE"/>
                </a:solidFill>
              </a:defRPr>
            </a:lvl1pPr>
            <a:lvl2pPr>
              <a:defRPr sz="2025" b="0">
                <a:solidFill>
                  <a:srgbClr val="AAAEBE"/>
                </a:solidFill>
              </a:defRPr>
            </a:lvl2pPr>
            <a:lvl3pPr>
              <a:defRPr sz="2025" b="0">
                <a:solidFill>
                  <a:srgbClr val="AAAEBE"/>
                </a:solidFill>
              </a:defRPr>
            </a:lvl3pPr>
            <a:lvl4pPr>
              <a:defRPr sz="2025" b="0">
                <a:solidFill>
                  <a:srgbClr val="AAAEBE"/>
                </a:solidFill>
              </a:defRPr>
            </a:lvl4pPr>
            <a:lvl5pPr>
              <a:defRPr sz="2025" b="0">
                <a:solidFill>
                  <a:srgbClr val="AAAEBE"/>
                </a:solidFill>
              </a:defRPr>
            </a:lvl5pPr>
            <a:lvl6pPr>
              <a:defRPr sz="2025" b="0">
                <a:solidFill>
                  <a:srgbClr val="AAAEBE"/>
                </a:solidFill>
              </a:defRPr>
            </a:lvl6pPr>
            <a:lvl7pPr>
              <a:defRPr sz="2025" b="0">
                <a:solidFill>
                  <a:srgbClr val="AAAEBE"/>
                </a:solidFill>
              </a:defRPr>
            </a:lvl7pPr>
            <a:lvl8pPr>
              <a:defRPr sz="2025" b="0">
                <a:solidFill>
                  <a:srgbClr val="AAAEBE"/>
                </a:solidFill>
              </a:defRPr>
            </a:lvl8pPr>
            <a:lvl9pPr>
              <a:defRPr sz="2025" b="0">
                <a:solidFill>
                  <a:srgbClr val="AAAEBE"/>
                </a:solidFill>
              </a:defRPr>
            </a:lvl9pPr>
          </a:lstStyle>
          <a:p>
            <a:pPr>
              <a:defRPr sz="2025" b="0">
                <a:solidFill>
                  <a:srgbClr val="AAAEBE"/>
                </a:solidFill>
              </a:defRPr>
            </a:pPr>
            <a:endParaRPr sz="2025" b="0" dirty="0">
              <a:solidFill>
                <a:srgbClr val="AAAEBE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FD2D77C-2AA3-4EB8-9891-F9F0CCFE9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86" y="1114320"/>
            <a:ext cx="7924814" cy="654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E4759E5-E7B4-4AD2-B3DE-38EE67860202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D76920-E950-4153-B514-12BCDE5ADF38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47DA34-0A07-4F36-AED0-E7AACB5E16CE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4F5295-0EC0-407E-911E-95EB3DC33550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lang="ru-RU" dirty="0"/>
              <a:t>Цель</a:t>
            </a:r>
            <a:r>
              <a:rPr sz="4650" b="1" dirty="0">
                <a:solidFill>
                  <a:srgbClr val="F6F6FA"/>
                </a:solidFill>
              </a:rPr>
              <a:t> </a:t>
            </a:r>
            <a:r>
              <a:rPr sz="4650" b="1" dirty="0" err="1">
                <a:solidFill>
                  <a:srgbClr val="F6F6FA"/>
                </a:solidFill>
              </a:rPr>
              <a:t>проекта</a:t>
            </a:r>
            <a:endParaRPr sz="4650" b="1" dirty="0">
              <a:solidFill>
                <a:srgbClr val="F6F6FA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F2F181-D9DA-435D-A266-77FC1FB39CF7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902030-9076-4D69-9050-70F398C68CEB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7C249C-542F-4C65-B162-AF89686C4011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259D076-18B4-484D-BB13-B8A793844A39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6477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0" b="1">
                <a:solidFill>
                  <a:srgbClr val="7295FF"/>
                </a:solidFill>
              </a:defRPr>
            </a:defPPr>
            <a:lvl1pPr>
              <a:defRPr sz="9000" b="1">
                <a:solidFill>
                  <a:srgbClr val="7295FF"/>
                </a:solidFill>
              </a:defRPr>
            </a:lvl1pPr>
            <a:lvl2pPr>
              <a:defRPr sz="9000" b="1">
                <a:solidFill>
                  <a:srgbClr val="7295FF"/>
                </a:solidFill>
              </a:defRPr>
            </a:lvl2pPr>
            <a:lvl3pPr>
              <a:defRPr sz="9000" b="1">
                <a:solidFill>
                  <a:srgbClr val="7295FF"/>
                </a:solidFill>
              </a:defRPr>
            </a:lvl3pPr>
            <a:lvl4pPr>
              <a:defRPr sz="9000" b="1">
                <a:solidFill>
                  <a:srgbClr val="7295FF"/>
                </a:solidFill>
              </a:defRPr>
            </a:lvl4pPr>
            <a:lvl5pPr>
              <a:defRPr sz="9000" b="1">
                <a:solidFill>
                  <a:srgbClr val="7295FF"/>
                </a:solidFill>
              </a:defRPr>
            </a:lvl5pPr>
            <a:lvl6pPr>
              <a:defRPr sz="9000" b="1">
                <a:solidFill>
                  <a:srgbClr val="7295FF"/>
                </a:solidFill>
              </a:defRPr>
            </a:lvl6pPr>
            <a:lvl7pPr>
              <a:defRPr sz="9000" b="1">
                <a:solidFill>
                  <a:srgbClr val="7295FF"/>
                </a:solidFill>
              </a:defRPr>
            </a:lvl7pPr>
            <a:lvl8pPr>
              <a:defRPr sz="9000" b="1">
                <a:solidFill>
                  <a:srgbClr val="7295FF"/>
                </a:solidFill>
              </a:defRPr>
            </a:lvl8pPr>
            <a:lvl9pPr>
              <a:defRPr sz="9000" b="1">
                <a:solidFill>
                  <a:srgbClr val="7295FF"/>
                </a:solidFill>
              </a:defRPr>
            </a:lvl9pPr>
          </a:lstStyle>
          <a:p>
            <a:pPr>
              <a:defRPr sz="9000" b="1">
                <a:solidFill>
                  <a:srgbClr val="7295FF"/>
                </a:solidFill>
              </a:defRPr>
            </a:pPr>
            <a:r>
              <a:rPr sz="9000" b="1">
                <a:solidFill>
                  <a:srgbClr val="7295FF"/>
                </a:solidFill>
              </a:rPr>
              <a:t>550 759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A547FF5-F038-4F24-9E36-3C221C1A2560}"/>
              </a:ext>
            </a:extLst>
          </p:cNvPr>
          <p:cNvSpPr>
            <a:spLocks noGrp="1"/>
          </p:cNvSpPr>
          <p:nvPr/>
        </p:nvSpPr>
        <p:spPr>
          <a:xfrm>
            <a:off x="762000" y="454342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F6F6FA"/>
                </a:solidFill>
              </a:defRPr>
            </a:defPPr>
            <a:lvl1pPr>
              <a:defRPr sz="3000" b="1">
                <a:solidFill>
                  <a:srgbClr val="F6F6FA"/>
                </a:solidFill>
              </a:defRPr>
            </a:lvl1pPr>
            <a:lvl2pPr>
              <a:defRPr sz="3000" b="1">
                <a:solidFill>
                  <a:srgbClr val="F6F6FA"/>
                </a:solidFill>
              </a:defRPr>
            </a:lvl2pPr>
            <a:lvl3pPr>
              <a:defRPr sz="3000" b="1">
                <a:solidFill>
                  <a:srgbClr val="F6F6FA"/>
                </a:solidFill>
              </a:defRPr>
            </a:lvl3pPr>
            <a:lvl4pPr>
              <a:defRPr sz="3000" b="1">
                <a:solidFill>
                  <a:srgbClr val="F6F6FA"/>
                </a:solidFill>
              </a:defRPr>
            </a:lvl4pPr>
            <a:lvl5pPr>
              <a:defRPr sz="3000" b="1">
                <a:solidFill>
                  <a:srgbClr val="F6F6FA"/>
                </a:solidFill>
              </a:defRPr>
            </a:lvl5pPr>
            <a:lvl6pPr>
              <a:defRPr sz="3000" b="1">
                <a:solidFill>
                  <a:srgbClr val="F6F6FA"/>
                </a:solidFill>
              </a:defRPr>
            </a:lvl6pPr>
            <a:lvl7pPr>
              <a:defRPr sz="3000" b="1">
                <a:solidFill>
                  <a:srgbClr val="F6F6FA"/>
                </a:solidFill>
              </a:defRPr>
            </a:lvl7pPr>
            <a:lvl8pPr>
              <a:defRPr sz="3000" b="1">
                <a:solidFill>
                  <a:srgbClr val="F6F6FA"/>
                </a:solidFill>
              </a:defRPr>
            </a:lvl8pPr>
            <a:lvl9pPr>
              <a:defRPr sz="3000" b="1">
                <a:solidFill>
                  <a:srgbClr val="F6F6FA"/>
                </a:solidFill>
              </a:defRPr>
            </a:lvl9pPr>
          </a:lstStyle>
          <a:p>
            <a:pPr>
              <a:defRPr sz="3000" b="1">
                <a:solidFill>
                  <a:srgbClr val="F6F6FA"/>
                </a:solidFill>
              </a:defRPr>
            </a:pPr>
            <a:r>
              <a:rPr sz="3000" b="1" dirty="0" err="1">
                <a:solidFill>
                  <a:srgbClr val="F6F6FA"/>
                </a:solidFill>
              </a:rPr>
              <a:t>строк</a:t>
            </a:r>
            <a:r>
              <a:rPr sz="3000" b="1" dirty="0">
                <a:solidFill>
                  <a:srgbClr val="F6F6FA"/>
                </a:solidFill>
              </a:rPr>
              <a:t> в 8 CSV </a:t>
            </a:r>
            <a:r>
              <a:rPr sz="3000" b="1" dirty="0" err="1">
                <a:solidFill>
                  <a:srgbClr val="F6F6FA"/>
                </a:solidFill>
              </a:rPr>
              <a:t>Olist</a:t>
            </a:r>
            <a:endParaRPr sz="3000" b="1" dirty="0">
              <a:solidFill>
                <a:srgbClr val="F6F6FA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7C9123-25FF-4CCB-9749-92968E21351E}"/>
              </a:ext>
            </a:extLst>
          </p:cNvPr>
          <p:cNvSpPr>
            <a:spLocks noGrp="1"/>
          </p:cNvSpPr>
          <p:nvPr/>
        </p:nvSpPr>
        <p:spPr>
          <a:xfrm>
            <a:off x="762000" y="53625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AAAEBE"/>
                </a:solidFill>
              </a:defRPr>
            </a:defPPr>
            <a:lvl1pPr>
              <a:defRPr sz="2175" b="0">
                <a:solidFill>
                  <a:srgbClr val="AAAEBE"/>
                </a:solidFill>
              </a:defRPr>
            </a:lvl1pPr>
            <a:lvl2pPr>
              <a:defRPr sz="2175" b="0">
                <a:solidFill>
                  <a:srgbClr val="AAAEBE"/>
                </a:solidFill>
              </a:defRPr>
            </a:lvl2pPr>
            <a:lvl3pPr>
              <a:defRPr sz="2175" b="0">
                <a:solidFill>
                  <a:srgbClr val="AAAEBE"/>
                </a:solidFill>
              </a:defRPr>
            </a:lvl3pPr>
            <a:lvl4pPr>
              <a:defRPr sz="2175" b="0">
                <a:solidFill>
                  <a:srgbClr val="AAAEBE"/>
                </a:solidFill>
              </a:defRPr>
            </a:lvl4pPr>
            <a:lvl5pPr>
              <a:defRPr sz="2175" b="0">
                <a:solidFill>
                  <a:srgbClr val="AAAEBE"/>
                </a:solidFill>
              </a:defRPr>
            </a:lvl5pPr>
            <a:lvl6pPr>
              <a:defRPr sz="2175" b="0">
                <a:solidFill>
                  <a:srgbClr val="AAAEBE"/>
                </a:solidFill>
              </a:defRPr>
            </a:lvl6pPr>
            <a:lvl7pPr>
              <a:defRPr sz="2175" b="0">
                <a:solidFill>
                  <a:srgbClr val="AAAEBE"/>
                </a:solidFill>
              </a:defRPr>
            </a:lvl7pPr>
            <a:lvl8pPr>
              <a:defRPr sz="2175" b="0">
                <a:solidFill>
                  <a:srgbClr val="AAAEBE"/>
                </a:solidFill>
              </a:defRPr>
            </a:lvl8pPr>
            <a:lvl9pPr>
              <a:defRPr sz="2175" b="0">
                <a:solidFill>
                  <a:srgbClr val="AAAEBE"/>
                </a:solidFill>
              </a:defRPr>
            </a:lvl9pPr>
          </a:lstStyle>
          <a:p>
            <a:pPr>
              <a:defRPr sz="2175" b="0">
                <a:solidFill>
                  <a:srgbClr val="AAAEBE"/>
                </a:solidFill>
              </a:defRPr>
            </a:pPr>
            <a:endParaRPr sz="2175" b="0" dirty="0">
              <a:solidFill>
                <a:srgbClr val="AAAEBE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A36E9EE-A6A4-4BE4-8348-98F4F8830092}"/>
              </a:ext>
            </a:extLst>
          </p:cNvPr>
          <p:cNvSpPr>
            <a:spLocks noGrp="1"/>
          </p:cNvSpPr>
          <p:nvPr/>
        </p:nvSpPr>
        <p:spPr>
          <a:xfrm>
            <a:off x="7620000" y="2762250"/>
            <a:ext cx="6667500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F6F6FA"/>
                </a:solidFill>
              </a:defRPr>
            </a:defPPr>
            <a:lvl1pPr>
              <a:defRPr sz="2550" b="0">
                <a:solidFill>
                  <a:srgbClr val="F6F6FA"/>
                </a:solidFill>
              </a:defRPr>
            </a:lvl1pPr>
            <a:lvl2pPr>
              <a:defRPr sz="2550" b="0">
                <a:solidFill>
                  <a:srgbClr val="F6F6FA"/>
                </a:solidFill>
              </a:defRPr>
            </a:lvl2pPr>
            <a:lvl3pPr>
              <a:defRPr sz="2550" b="0">
                <a:solidFill>
                  <a:srgbClr val="F6F6FA"/>
                </a:solidFill>
              </a:defRPr>
            </a:lvl3pPr>
            <a:lvl4pPr>
              <a:defRPr sz="2550" b="0">
                <a:solidFill>
                  <a:srgbClr val="F6F6FA"/>
                </a:solidFill>
              </a:defRPr>
            </a:lvl4pPr>
            <a:lvl5pPr>
              <a:defRPr sz="2550" b="0">
                <a:solidFill>
                  <a:srgbClr val="F6F6FA"/>
                </a:solidFill>
              </a:defRPr>
            </a:lvl5pPr>
            <a:lvl6pPr>
              <a:defRPr sz="2550" b="0">
                <a:solidFill>
                  <a:srgbClr val="F6F6FA"/>
                </a:solidFill>
              </a:defRPr>
            </a:lvl6pPr>
            <a:lvl7pPr>
              <a:defRPr sz="2550" b="0">
                <a:solidFill>
                  <a:srgbClr val="F6F6FA"/>
                </a:solidFill>
              </a:defRPr>
            </a:lvl7pPr>
            <a:lvl8pPr>
              <a:defRPr sz="2550" b="0">
                <a:solidFill>
                  <a:srgbClr val="F6F6FA"/>
                </a:solidFill>
              </a:defRPr>
            </a:lvl8pPr>
            <a:lvl9pPr>
              <a:defRPr sz="2550" b="0">
                <a:solidFill>
                  <a:srgbClr val="F6F6FA"/>
                </a:solidFill>
              </a:defRPr>
            </a:lvl9pPr>
          </a:lstStyle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 err="1">
                <a:solidFill>
                  <a:srgbClr val="F6F6FA"/>
                </a:solidFill>
              </a:rPr>
              <a:t>Построить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типизированную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модель</a:t>
            </a:r>
            <a:endParaRPr sz="2550" b="0" dirty="0">
              <a:solidFill>
                <a:srgbClr val="F6F6FA"/>
              </a:solidFill>
            </a:endParaRPr>
          </a:p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 err="1">
                <a:solidFill>
                  <a:srgbClr val="F6F6FA"/>
                </a:solidFill>
              </a:rPr>
              <a:t>из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исходных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выгрузок</a:t>
            </a:r>
            <a:r>
              <a:rPr sz="2550" b="0" dirty="0">
                <a:solidFill>
                  <a:srgbClr val="F6F6FA"/>
                </a:solidFill>
              </a:rPr>
              <a:t>.</a:t>
            </a:r>
          </a:p>
          <a:p>
            <a:endParaRPr sz="2550" b="0" dirty="0">
              <a:solidFill>
                <a:srgbClr val="F6F6FA"/>
              </a:solidFill>
            </a:endParaRPr>
          </a:p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 err="1">
                <a:solidFill>
                  <a:srgbClr val="F6F6FA"/>
                </a:solidFill>
              </a:rPr>
              <a:t>Получить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согласованные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ответы</a:t>
            </a:r>
            <a:endParaRPr sz="2550" b="0" dirty="0">
              <a:solidFill>
                <a:srgbClr val="F6F6FA"/>
              </a:solidFill>
            </a:endParaRPr>
          </a:p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 err="1">
                <a:solidFill>
                  <a:srgbClr val="F6F6FA"/>
                </a:solidFill>
              </a:rPr>
              <a:t>на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вопросы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аналитиков</a:t>
            </a:r>
            <a:r>
              <a:rPr sz="2550" b="0" dirty="0">
                <a:solidFill>
                  <a:srgbClr val="F6F6FA"/>
                </a:solidFill>
              </a:rPr>
              <a:t>.</a:t>
            </a:r>
          </a:p>
          <a:p>
            <a:endParaRPr sz="2550" b="0" dirty="0">
              <a:solidFill>
                <a:srgbClr val="F6F6FA"/>
              </a:solidFill>
            </a:endParaRPr>
          </a:p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 err="1">
                <a:solidFill>
                  <a:srgbClr val="F6F6FA"/>
                </a:solidFill>
              </a:rPr>
              <a:t>Сохранить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происхождение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данных</a:t>
            </a:r>
            <a:endParaRPr sz="2550" b="0" dirty="0">
              <a:solidFill>
                <a:srgbClr val="F6F6FA"/>
              </a:solidFill>
            </a:endParaRPr>
          </a:p>
          <a:p>
            <a:pPr>
              <a:defRPr sz="2550" b="0">
                <a:solidFill>
                  <a:srgbClr val="F6F6FA"/>
                </a:solidFill>
              </a:defRPr>
            </a:pPr>
            <a:r>
              <a:rPr sz="2550" b="0" dirty="0">
                <a:solidFill>
                  <a:srgbClr val="F6F6FA"/>
                </a:solidFill>
              </a:rPr>
              <a:t>и </a:t>
            </a:r>
            <a:r>
              <a:rPr sz="2550" b="0" dirty="0" err="1">
                <a:solidFill>
                  <a:srgbClr val="F6F6FA"/>
                </a:solidFill>
              </a:rPr>
              <a:t>сделать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ошибки</a:t>
            </a:r>
            <a:r>
              <a:rPr sz="2550" b="0" dirty="0">
                <a:solidFill>
                  <a:srgbClr val="F6F6FA"/>
                </a:solidFill>
              </a:rPr>
              <a:t> </a:t>
            </a:r>
            <a:r>
              <a:rPr sz="2550" b="0" dirty="0" err="1">
                <a:solidFill>
                  <a:srgbClr val="F6F6FA"/>
                </a:solidFill>
              </a:rPr>
              <a:t>видимыми</a:t>
            </a:r>
            <a:r>
              <a:rPr sz="2550" b="0" dirty="0">
                <a:solidFill>
                  <a:srgbClr val="F6F6FA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14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4E34025-DF49-4B3E-BE5C-CF6707770FB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AF036A-3E7F-4449-A394-B69D66E648F8}"/>
              </a:ext>
            </a:extLst>
          </p:cNvPr>
          <p:cNvSpPr>
            <a:spLocks noGrp="1"/>
          </p:cNvSpPr>
          <p:nvPr/>
        </p:nvSpPr>
        <p:spPr>
          <a:xfrm>
            <a:off x="8572500" y="293810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15676D1-E5C2-45DC-B037-197CA3A6D9D3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137931-3582-412F-BA70-8847DA3D13F1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sz="4650" b="1">
                <a:solidFill>
                  <a:srgbClr val="F6F6FA"/>
                </a:solidFill>
              </a:rPr>
              <a:t>Архитектура решения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B7F4681-5151-4A6F-9114-09690AAF5721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F8F8F75-6609-4C88-834C-018110628CBD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A3899F-8626-40F0-83C0-1A22E9AFA177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03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5172F1-D20C-4CDF-B117-7AE0DBA70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668637"/>
            <a:ext cx="13906500" cy="336857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D9E192-43FA-4136-A3A9-0A05CDD0868A}"/>
              </a:ext>
            </a:extLst>
          </p:cNvPr>
          <p:cNvSpPr>
            <a:spLocks noGrp="1"/>
          </p:cNvSpPr>
          <p:nvPr/>
        </p:nvSpPr>
        <p:spPr>
          <a:xfrm>
            <a:off x="666750" y="6362700"/>
            <a:ext cx="13906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6F6FA"/>
                </a:solidFill>
              </a:defRPr>
            </a:defPPr>
            <a:lvl1pPr>
              <a:defRPr sz="2325" b="0">
                <a:solidFill>
                  <a:srgbClr val="F6F6FA"/>
                </a:solidFill>
              </a:defRPr>
            </a:lvl1pPr>
            <a:lvl2pPr>
              <a:defRPr sz="2325" b="0">
                <a:solidFill>
                  <a:srgbClr val="F6F6FA"/>
                </a:solidFill>
              </a:defRPr>
            </a:lvl2pPr>
            <a:lvl3pPr>
              <a:defRPr sz="2325" b="0">
                <a:solidFill>
                  <a:srgbClr val="F6F6FA"/>
                </a:solidFill>
              </a:defRPr>
            </a:lvl3pPr>
            <a:lvl4pPr>
              <a:defRPr sz="2325" b="0">
                <a:solidFill>
                  <a:srgbClr val="F6F6FA"/>
                </a:solidFill>
              </a:defRPr>
            </a:lvl4pPr>
            <a:lvl5pPr>
              <a:defRPr sz="2325" b="0">
                <a:solidFill>
                  <a:srgbClr val="F6F6FA"/>
                </a:solidFill>
              </a:defRPr>
            </a:lvl5pPr>
            <a:lvl6pPr>
              <a:defRPr sz="2325" b="0">
                <a:solidFill>
                  <a:srgbClr val="F6F6FA"/>
                </a:solidFill>
              </a:defRPr>
            </a:lvl6pPr>
            <a:lvl7pPr>
              <a:defRPr sz="2325" b="0">
                <a:solidFill>
                  <a:srgbClr val="F6F6FA"/>
                </a:solidFill>
              </a:defRPr>
            </a:lvl7pPr>
            <a:lvl8pPr>
              <a:defRPr sz="2325" b="0">
                <a:solidFill>
                  <a:srgbClr val="F6F6FA"/>
                </a:solidFill>
              </a:defRPr>
            </a:lvl8pPr>
            <a:lvl9pPr>
              <a:defRPr sz="2325" b="0">
                <a:solidFill>
                  <a:srgbClr val="F6F6FA"/>
                </a:solidFill>
              </a:defRPr>
            </a:lvl9pPr>
          </a:lstStyle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raw хранит исходник. core содержит типы, ключи и связи.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Отклонённые строки попадают в core.etl_rejects с причиной.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94FBD1-02A5-414E-8C0A-E4E44AD01C4E}"/>
              </a:ext>
            </a:extLst>
          </p:cNvPr>
          <p:cNvSpPr>
            <a:spLocks noGrp="1"/>
          </p:cNvSpPr>
          <p:nvPr/>
        </p:nvSpPr>
        <p:spPr>
          <a:xfrm>
            <a:off x="666750" y="7229475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AAAEBE"/>
                </a:solidFill>
              </a:defRPr>
            </a:defPPr>
            <a:lvl1pPr>
              <a:defRPr sz="1650" b="0">
                <a:solidFill>
                  <a:srgbClr val="AAAEBE"/>
                </a:solidFill>
              </a:defRPr>
            </a:lvl1pPr>
            <a:lvl2pPr>
              <a:defRPr sz="1650" b="0">
                <a:solidFill>
                  <a:srgbClr val="AAAEBE"/>
                </a:solidFill>
              </a:defRPr>
            </a:lvl2pPr>
            <a:lvl3pPr>
              <a:defRPr sz="1650" b="0">
                <a:solidFill>
                  <a:srgbClr val="AAAEBE"/>
                </a:solidFill>
              </a:defRPr>
            </a:lvl3pPr>
            <a:lvl4pPr>
              <a:defRPr sz="1650" b="0">
                <a:solidFill>
                  <a:srgbClr val="AAAEBE"/>
                </a:solidFill>
              </a:defRPr>
            </a:lvl4pPr>
            <a:lvl5pPr>
              <a:defRPr sz="1650" b="0">
                <a:solidFill>
                  <a:srgbClr val="AAAEBE"/>
                </a:solidFill>
              </a:defRPr>
            </a:lvl5pPr>
            <a:lvl6pPr>
              <a:defRPr sz="1650" b="0">
                <a:solidFill>
                  <a:srgbClr val="AAAEBE"/>
                </a:solidFill>
              </a:defRPr>
            </a:lvl6pPr>
            <a:lvl7pPr>
              <a:defRPr sz="1650" b="0">
                <a:solidFill>
                  <a:srgbClr val="AAAEBE"/>
                </a:solidFill>
              </a:defRPr>
            </a:lvl7pPr>
            <a:lvl8pPr>
              <a:defRPr sz="1650" b="0">
                <a:solidFill>
                  <a:srgbClr val="AAAEBE"/>
                </a:solidFill>
              </a:defRPr>
            </a:lvl8pPr>
            <a:lvl9pPr>
              <a:defRPr sz="1650" b="0">
                <a:solidFill>
                  <a:srgbClr val="AAAEBE"/>
                </a:solidFill>
              </a:defRPr>
            </a:lvl9pPr>
          </a:lstStyle>
          <a:p>
            <a:pPr>
              <a:defRPr sz="1650" b="0">
                <a:solidFill>
                  <a:srgbClr val="AAAEBE"/>
                </a:solidFill>
              </a:defRPr>
            </a:pPr>
            <a:endParaRPr sz="1650" b="0" dirty="0">
              <a:solidFill>
                <a:srgbClr val="AAAEBE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3844C2E-A099-45DE-822D-797DF9F02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667000"/>
            <a:ext cx="13826521" cy="333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6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317D73E-7F1D-4631-B994-391B1F807EA8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4374B4-7841-479C-B2DC-9958630F64F5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50666B-7E2B-4A5D-B031-AC334A2D3F1B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BD603F-2618-49C3-ACA6-0DCE37663E26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sz="4650" b="1">
                <a:solidFill>
                  <a:srgbClr val="F6F6FA"/>
                </a:solidFill>
              </a:rPr>
              <a:t>Четыре этапа ETL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803F82-8813-4321-A130-3FF8F05721E7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59B87C-AFD4-4970-9D2A-E9FB4362BAB6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39C0582-3C46-4E4D-BD4E-A7510048FE0E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05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F2E1D85-74FF-453A-9E06-8E31C2FCA597}"/>
              </a:ext>
            </a:extLst>
          </p:cNvPr>
          <p:cNvGraphicFramePr/>
          <p:nvPr/>
        </p:nvGraphicFramePr>
        <p:xfrm>
          <a:off x="666750" y="2714625"/>
          <a:ext cx="13906500" cy="41910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ЭТАП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ФАЙЛ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ЧТО ДЕЛАЕТ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6F6FA"/>
                          </a:solidFill>
                        </a:rPr>
                        <a:t>01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20_1_dims.sql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Типизация и справочники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6F6FA"/>
                          </a:solidFill>
                        </a:rPr>
                        <a:t>02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20_2_orders.sql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Заказы и исходные адреса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6F6FA"/>
                          </a:solidFill>
                        </a:rPr>
                        <a:t>03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20_3_order_children.sql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Позиции, платежи, отзывы и rejects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6F6FA"/>
                          </a:solidFill>
                        </a:rPr>
                        <a:t>04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20_4_calendar.sql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AAAEBE"/>
                          </a:solidFill>
                        </a:rPr>
                        <a:t>Календарь и баланс источников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648F9B-56A5-4393-A5F0-D938D269F43E}"/>
              </a:ext>
            </a:extLst>
          </p:cNvPr>
          <p:cNvSpPr>
            <a:spLocks noGrp="1"/>
          </p:cNvSpPr>
          <p:nvPr/>
        </p:nvSpPr>
        <p:spPr>
          <a:xfrm>
            <a:off x="666750" y="7229475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AAAEBE"/>
                </a:solidFill>
              </a:defRPr>
            </a:defPPr>
            <a:lvl1pPr>
              <a:defRPr sz="1650" b="0">
                <a:solidFill>
                  <a:srgbClr val="AAAEBE"/>
                </a:solidFill>
              </a:defRPr>
            </a:lvl1pPr>
            <a:lvl2pPr>
              <a:defRPr sz="1650" b="0">
                <a:solidFill>
                  <a:srgbClr val="AAAEBE"/>
                </a:solidFill>
              </a:defRPr>
            </a:lvl2pPr>
            <a:lvl3pPr>
              <a:defRPr sz="1650" b="0">
                <a:solidFill>
                  <a:srgbClr val="AAAEBE"/>
                </a:solidFill>
              </a:defRPr>
            </a:lvl3pPr>
            <a:lvl4pPr>
              <a:defRPr sz="1650" b="0">
                <a:solidFill>
                  <a:srgbClr val="AAAEBE"/>
                </a:solidFill>
              </a:defRPr>
            </a:lvl4pPr>
            <a:lvl5pPr>
              <a:defRPr sz="1650" b="0">
                <a:solidFill>
                  <a:srgbClr val="AAAEBE"/>
                </a:solidFill>
              </a:defRPr>
            </a:lvl5pPr>
            <a:lvl6pPr>
              <a:defRPr sz="1650" b="0">
                <a:solidFill>
                  <a:srgbClr val="AAAEBE"/>
                </a:solidFill>
              </a:defRPr>
            </a:lvl6pPr>
            <a:lvl7pPr>
              <a:defRPr sz="1650" b="0">
                <a:solidFill>
                  <a:srgbClr val="AAAEBE"/>
                </a:solidFill>
              </a:defRPr>
            </a:lvl7pPr>
            <a:lvl8pPr>
              <a:defRPr sz="1650" b="0">
                <a:solidFill>
                  <a:srgbClr val="AAAEBE"/>
                </a:solidFill>
              </a:defRPr>
            </a:lvl8pPr>
            <a:lvl9pPr>
              <a:defRPr sz="1650" b="0">
                <a:solidFill>
                  <a:srgbClr val="AAAEBE"/>
                </a:solidFill>
              </a:defRPr>
            </a:lvl9pPr>
          </a:lstStyle>
          <a:p>
            <a:pPr>
              <a:defRPr sz="1650" b="0">
                <a:solidFill>
                  <a:srgbClr val="AAAEBE"/>
                </a:solidFill>
              </a:defRPr>
            </a:pPr>
            <a:endParaRPr sz="1650" b="0" dirty="0">
              <a:solidFill>
                <a:srgbClr val="AAAEBE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9885758-9A98-4547-8754-7B153F950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2297" y="7974883"/>
            <a:ext cx="762000" cy="45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3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AD5B4F9-8399-4B7B-AA4E-EF223A44D71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368146-E83D-4796-9B02-8F030414668D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21DEFD-3D0B-4FC8-8D46-14A1C89BEAED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24D0B4-EC84-43F3-B14D-EBC60E0AA965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sz="4650" b="1">
                <a:solidFill>
                  <a:srgbClr val="F6F6FA"/>
                </a:solidFill>
              </a:rPr>
              <a:t>Защита от искажения показателей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2FB389-BCCF-4E1E-9F7A-46930B0442B4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CC2B0E-1B0F-41F9-80C2-E922D90302CA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7658698-8744-4E97-8FF8-3907473323DD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06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A8782D-782D-43EC-A739-2C2EC8C50BF8}"/>
              </a:ext>
            </a:extLst>
          </p:cNvPr>
          <p:cNvSpPr>
            <a:spLocks noGrp="1"/>
          </p:cNvSpPr>
          <p:nvPr/>
        </p:nvSpPr>
        <p:spPr>
          <a:xfrm>
            <a:off x="666750" y="27051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7295FF"/>
                </a:solidFill>
              </a:defRPr>
            </a:defPPr>
            <a:lvl1pPr>
              <a:defRPr sz="2700" b="1">
                <a:solidFill>
                  <a:srgbClr val="7295FF"/>
                </a:solidFill>
              </a:defRPr>
            </a:lvl1pPr>
            <a:lvl2pPr>
              <a:defRPr sz="2700" b="1">
                <a:solidFill>
                  <a:srgbClr val="7295FF"/>
                </a:solidFill>
              </a:defRPr>
            </a:lvl2pPr>
            <a:lvl3pPr>
              <a:defRPr sz="2700" b="1">
                <a:solidFill>
                  <a:srgbClr val="7295FF"/>
                </a:solidFill>
              </a:defRPr>
            </a:lvl3pPr>
            <a:lvl4pPr>
              <a:defRPr sz="2700" b="1">
                <a:solidFill>
                  <a:srgbClr val="7295FF"/>
                </a:solidFill>
              </a:defRPr>
            </a:lvl4pPr>
            <a:lvl5pPr>
              <a:defRPr sz="2700" b="1">
                <a:solidFill>
                  <a:srgbClr val="7295FF"/>
                </a:solidFill>
              </a:defRPr>
            </a:lvl5pPr>
            <a:lvl6pPr>
              <a:defRPr sz="2700" b="1">
                <a:solidFill>
                  <a:srgbClr val="7295FF"/>
                </a:solidFill>
              </a:defRPr>
            </a:lvl6pPr>
            <a:lvl7pPr>
              <a:defRPr sz="2700" b="1">
                <a:solidFill>
                  <a:srgbClr val="7295FF"/>
                </a:solidFill>
              </a:defRPr>
            </a:lvl7pPr>
            <a:lvl8pPr>
              <a:defRPr sz="2700" b="1">
                <a:solidFill>
                  <a:srgbClr val="7295FF"/>
                </a:solidFill>
              </a:defRPr>
            </a:lvl8pPr>
            <a:lvl9pPr>
              <a:defRPr sz="2700" b="1">
                <a:solidFill>
                  <a:srgbClr val="7295FF"/>
                </a:solidFill>
              </a:defRPr>
            </a:lvl9pPr>
          </a:lstStyle>
          <a:p>
            <a:pPr>
              <a:defRPr sz="2700" b="1">
                <a:solidFill>
                  <a:srgbClr val="7295FF"/>
                </a:solidFill>
              </a:defRPr>
            </a:pPr>
            <a:r>
              <a:rPr sz="2700" b="1">
                <a:solidFill>
                  <a:srgbClr val="7295FF"/>
                </a:solidFill>
              </a:rPr>
              <a:t>Деньги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325E77-89EB-41B8-ADA0-FD9DDA65827A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428625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30E24F-F118-4015-BA51-A908BDB881B1}"/>
              </a:ext>
            </a:extLst>
          </p:cNvPr>
          <p:cNvSpPr>
            <a:spLocks noGrp="1"/>
          </p:cNvSpPr>
          <p:nvPr/>
        </p:nvSpPr>
        <p:spPr>
          <a:xfrm>
            <a:off x="666750" y="3781425"/>
            <a:ext cx="4286250" cy="2876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6F6FA"/>
                </a:solidFill>
              </a:defRPr>
            </a:defPPr>
            <a:lvl1pPr>
              <a:defRPr sz="2325" b="0">
                <a:solidFill>
                  <a:srgbClr val="F6F6FA"/>
                </a:solidFill>
              </a:defRPr>
            </a:lvl1pPr>
            <a:lvl2pPr>
              <a:defRPr sz="2325" b="0">
                <a:solidFill>
                  <a:srgbClr val="F6F6FA"/>
                </a:solidFill>
              </a:defRPr>
            </a:lvl2pPr>
            <a:lvl3pPr>
              <a:defRPr sz="2325" b="0">
                <a:solidFill>
                  <a:srgbClr val="F6F6FA"/>
                </a:solidFill>
              </a:defRPr>
            </a:lvl3pPr>
            <a:lvl4pPr>
              <a:defRPr sz="2325" b="0">
                <a:solidFill>
                  <a:srgbClr val="F6F6FA"/>
                </a:solidFill>
              </a:defRPr>
            </a:lvl4pPr>
            <a:lvl5pPr>
              <a:defRPr sz="2325" b="0">
                <a:solidFill>
                  <a:srgbClr val="F6F6FA"/>
                </a:solidFill>
              </a:defRPr>
            </a:lvl5pPr>
            <a:lvl6pPr>
              <a:defRPr sz="2325" b="0">
                <a:solidFill>
                  <a:srgbClr val="F6F6FA"/>
                </a:solidFill>
              </a:defRPr>
            </a:lvl6pPr>
            <a:lvl7pPr>
              <a:defRPr sz="2325" b="0">
                <a:solidFill>
                  <a:srgbClr val="F6F6FA"/>
                </a:solidFill>
              </a:defRPr>
            </a:lvl7pPr>
            <a:lvl8pPr>
              <a:defRPr sz="2325" b="0">
                <a:solidFill>
                  <a:srgbClr val="F6F6FA"/>
                </a:solidFill>
              </a:defRPr>
            </a:lvl8pPr>
            <a:lvl9pPr>
              <a:defRPr sz="2325" b="0">
                <a:solidFill>
                  <a:srgbClr val="F6F6FA"/>
                </a:solidFill>
              </a:defRPr>
            </a:lvl9pPr>
          </a:lstStyle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Выручка: сумма price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доставленных заказов.</a:t>
            </a:r>
          </a:p>
          <a:p>
            <a:endParaRPr sz="2325" b="0">
              <a:solidFill>
                <a:srgbClr val="F6F6FA"/>
              </a:solidFill>
            </a:endParaRP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Чек: price + freight_value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на уровне целого заказа.</a:t>
            </a:r>
          </a:p>
          <a:p>
            <a:endParaRPr sz="2325" b="0">
              <a:solidFill>
                <a:srgbClr val="F6F6FA"/>
              </a:solidFill>
            </a:endParaRP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Расчёты в numeric.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EDC9742-8B03-41DB-BC97-468CC1C1D6F5}"/>
              </a:ext>
            </a:extLst>
          </p:cNvPr>
          <p:cNvSpPr>
            <a:spLocks noGrp="1"/>
          </p:cNvSpPr>
          <p:nvPr/>
        </p:nvSpPr>
        <p:spPr>
          <a:xfrm>
            <a:off x="5476875" y="27051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7295FF"/>
                </a:solidFill>
              </a:defRPr>
            </a:defPPr>
            <a:lvl1pPr>
              <a:defRPr sz="2700" b="1">
                <a:solidFill>
                  <a:srgbClr val="7295FF"/>
                </a:solidFill>
              </a:defRPr>
            </a:lvl1pPr>
            <a:lvl2pPr>
              <a:defRPr sz="2700" b="1">
                <a:solidFill>
                  <a:srgbClr val="7295FF"/>
                </a:solidFill>
              </a:defRPr>
            </a:lvl2pPr>
            <a:lvl3pPr>
              <a:defRPr sz="2700" b="1">
                <a:solidFill>
                  <a:srgbClr val="7295FF"/>
                </a:solidFill>
              </a:defRPr>
            </a:lvl3pPr>
            <a:lvl4pPr>
              <a:defRPr sz="2700" b="1">
                <a:solidFill>
                  <a:srgbClr val="7295FF"/>
                </a:solidFill>
              </a:defRPr>
            </a:lvl4pPr>
            <a:lvl5pPr>
              <a:defRPr sz="2700" b="1">
                <a:solidFill>
                  <a:srgbClr val="7295FF"/>
                </a:solidFill>
              </a:defRPr>
            </a:lvl5pPr>
            <a:lvl6pPr>
              <a:defRPr sz="2700" b="1">
                <a:solidFill>
                  <a:srgbClr val="7295FF"/>
                </a:solidFill>
              </a:defRPr>
            </a:lvl6pPr>
            <a:lvl7pPr>
              <a:defRPr sz="2700" b="1">
                <a:solidFill>
                  <a:srgbClr val="7295FF"/>
                </a:solidFill>
              </a:defRPr>
            </a:lvl7pPr>
            <a:lvl8pPr>
              <a:defRPr sz="2700" b="1">
                <a:solidFill>
                  <a:srgbClr val="7295FF"/>
                </a:solidFill>
              </a:defRPr>
            </a:lvl8pPr>
            <a:lvl9pPr>
              <a:defRPr sz="2700" b="1">
                <a:solidFill>
                  <a:srgbClr val="7295FF"/>
                </a:solidFill>
              </a:defRPr>
            </a:lvl9pPr>
          </a:lstStyle>
          <a:p>
            <a:pPr>
              <a:defRPr sz="2700" b="1">
                <a:solidFill>
                  <a:srgbClr val="7295FF"/>
                </a:solidFill>
              </a:defRPr>
            </a:pPr>
            <a:r>
              <a:rPr sz="2700" b="1">
                <a:solidFill>
                  <a:srgbClr val="7295FF"/>
                </a:solidFill>
              </a:rPr>
              <a:t>Связи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DCDBE97-D18B-4F0D-96FE-DF204B4604E1}"/>
              </a:ext>
            </a:extLst>
          </p:cNvPr>
          <p:cNvSpPr>
            <a:spLocks noGrp="1"/>
          </p:cNvSpPr>
          <p:nvPr/>
        </p:nvSpPr>
        <p:spPr>
          <a:xfrm>
            <a:off x="5476875" y="3476625"/>
            <a:ext cx="428625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757F5AF-7B69-4CB4-AC50-701BBB4982CF}"/>
              </a:ext>
            </a:extLst>
          </p:cNvPr>
          <p:cNvSpPr>
            <a:spLocks noGrp="1"/>
          </p:cNvSpPr>
          <p:nvPr/>
        </p:nvSpPr>
        <p:spPr>
          <a:xfrm>
            <a:off x="5476875" y="3781425"/>
            <a:ext cx="4286250" cy="2876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6F6FA"/>
                </a:solidFill>
              </a:defRPr>
            </a:defPPr>
            <a:lvl1pPr>
              <a:defRPr sz="2325" b="0">
                <a:solidFill>
                  <a:srgbClr val="F6F6FA"/>
                </a:solidFill>
              </a:defRPr>
            </a:lvl1pPr>
            <a:lvl2pPr>
              <a:defRPr sz="2325" b="0">
                <a:solidFill>
                  <a:srgbClr val="F6F6FA"/>
                </a:solidFill>
              </a:defRPr>
            </a:lvl2pPr>
            <a:lvl3pPr>
              <a:defRPr sz="2325" b="0">
                <a:solidFill>
                  <a:srgbClr val="F6F6FA"/>
                </a:solidFill>
              </a:defRPr>
            </a:lvl3pPr>
            <a:lvl4pPr>
              <a:defRPr sz="2325" b="0">
                <a:solidFill>
                  <a:srgbClr val="F6F6FA"/>
                </a:solidFill>
              </a:defRPr>
            </a:lvl4pPr>
            <a:lvl5pPr>
              <a:defRPr sz="2325" b="0">
                <a:solidFill>
                  <a:srgbClr val="F6F6FA"/>
                </a:solidFill>
              </a:defRPr>
            </a:lvl5pPr>
            <a:lvl6pPr>
              <a:defRPr sz="2325" b="0">
                <a:solidFill>
                  <a:srgbClr val="F6F6FA"/>
                </a:solidFill>
              </a:defRPr>
            </a:lvl6pPr>
            <a:lvl7pPr>
              <a:defRPr sz="2325" b="0">
                <a:solidFill>
                  <a:srgbClr val="F6F6FA"/>
                </a:solidFill>
              </a:defRPr>
            </a:lvl7pPr>
            <a:lvl8pPr>
              <a:defRPr sz="2325" b="0">
                <a:solidFill>
                  <a:srgbClr val="F6F6FA"/>
                </a:solidFill>
              </a:defRPr>
            </a:lvl8pPr>
            <a:lvl9pPr>
              <a:defRPr sz="2325" b="0">
                <a:solidFill>
                  <a:srgbClr val="F6F6FA"/>
                </a:solidFill>
              </a:defRPr>
            </a:lvl9pPr>
          </a:lstStyle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Позиции, платежи и отзывы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имеют разное зерно.</a:t>
            </a:r>
          </a:p>
          <a:p>
            <a:endParaRPr sz="2325" b="0">
              <a:solidFill>
                <a:srgbClr val="F6F6FA"/>
              </a:solidFill>
            </a:endParaRP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Перед совместным JOIN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их нужно агрегировать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до уровня расчёта.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66D91E1-EE1C-44DD-BED2-E8CB239F70EA}"/>
              </a:ext>
            </a:extLst>
          </p:cNvPr>
          <p:cNvSpPr>
            <a:spLocks noGrp="1"/>
          </p:cNvSpPr>
          <p:nvPr/>
        </p:nvSpPr>
        <p:spPr>
          <a:xfrm>
            <a:off x="10287000" y="27051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7295FF"/>
                </a:solidFill>
              </a:defRPr>
            </a:defPPr>
            <a:lvl1pPr>
              <a:defRPr sz="2700" b="1">
                <a:solidFill>
                  <a:srgbClr val="7295FF"/>
                </a:solidFill>
              </a:defRPr>
            </a:lvl1pPr>
            <a:lvl2pPr>
              <a:defRPr sz="2700" b="1">
                <a:solidFill>
                  <a:srgbClr val="7295FF"/>
                </a:solidFill>
              </a:defRPr>
            </a:lvl2pPr>
            <a:lvl3pPr>
              <a:defRPr sz="2700" b="1">
                <a:solidFill>
                  <a:srgbClr val="7295FF"/>
                </a:solidFill>
              </a:defRPr>
            </a:lvl3pPr>
            <a:lvl4pPr>
              <a:defRPr sz="2700" b="1">
                <a:solidFill>
                  <a:srgbClr val="7295FF"/>
                </a:solidFill>
              </a:defRPr>
            </a:lvl4pPr>
            <a:lvl5pPr>
              <a:defRPr sz="2700" b="1">
                <a:solidFill>
                  <a:srgbClr val="7295FF"/>
                </a:solidFill>
              </a:defRPr>
            </a:lvl5pPr>
            <a:lvl6pPr>
              <a:defRPr sz="2700" b="1">
                <a:solidFill>
                  <a:srgbClr val="7295FF"/>
                </a:solidFill>
              </a:defRPr>
            </a:lvl6pPr>
            <a:lvl7pPr>
              <a:defRPr sz="2700" b="1">
                <a:solidFill>
                  <a:srgbClr val="7295FF"/>
                </a:solidFill>
              </a:defRPr>
            </a:lvl7pPr>
            <a:lvl8pPr>
              <a:defRPr sz="2700" b="1">
                <a:solidFill>
                  <a:srgbClr val="7295FF"/>
                </a:solidFill>
              </a:defRPr>
            </a:lvl8pPr>
            <a:lvl9pPr>
              <a:defRPr sz="2700" b="1">
                <a:solidFill>
                  <a:srgbClr val="7295FF"/>
                </a:solidFill>
              </a:defRPr>
            </a:lvl9pPr>
          </a:lstStyle>
          <a:p>
            <a:pPr>
              <a:defRPr sz="2700" b="1">
                <a:solidFill>
                  <a:srgbClr val="7295FF"/>
                </a:solidFill>
              </a:defRPr>
            </a:pPr>
            <a:r>
              <a:rPr sz="2700" b="1">
                <a:solidFill>
                  <a:srgbClr val="7295FF"/>
                </a:solidFill>
              </a:rPr>
              <a:t>Покупатели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87EE53E-A8FD-4395-9CF6-BF04DEB03630}"/>
              </a:ext>
            </a:extLst>
          </p:cNvPr>
          <p:cNvSpPr>
            <a:spLocks noGrp="1"/>
          </p:cNvSpPr>
          <p:nvPr/>
        </p:nvSpPr>
        <p:spPr>
          <a:xfrm>
            <a:off x="10287000" y="3476625"/>
            <a:ext cx="428625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7BABD71-880E-4A56-9841-5B6EA1970A47}"/>
              </a:ext>
            </a:extLst>
          </p:cNvPr>
          <p:cNvSpPr>
            <a:spLocks noGrp="1"/>
          </p:cNvSpPr>
          <p:nvPr/>
        </p:nvSpPr>
        <p:spPr>
          <a:xfrm>
            <a:off x="10287000" y="3781425"/>
            <a:ext cx="4286250" cy="2876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6F6FA"/>
                </a:solidFill>
              </a:defRPr>
            </a:defPPr>
            <a:lvl1pPr>
              <a:defRPr sz="2325" b="0">
                <a:solidFill>
                  <a:srgbClr val="F6F6FA"/>
                </a:solidFill>
              </a:defRPr>
            </a:lvl1pPr>
            <a:lvl2pPr>
              <a:defRPr sz="2325" b="0">
                <a:solidFill>
                  <a:srgbClr val="F6F6FA"/>
                </a:solidFill>
              </a:defRPr>
            </a:lvl2pPr>
            <a:lvl3pPr>
              <a:defRPr sz="2325" b="0">
                <a:solidFill>
                  <a:srgbClr val="F6F6FA"/>
                </a:solidFill>
              </a:defRPr>
            </a:lvl3pPr>
            <a:lvl4pPr>
              <a:defRPr sz="2325" b="0">
                <a:solidFill>
                  <a:srgbClr val="F6F6FA"/>
                </a:solidFill>
              </a:defRPr>
            </a:lvl4pPr>
            <a:lvl5pPr>
              <a:defRPr sz="2325" b="0">
                <a:solidFill>
                  <a:srgbClr val="F6F6FA"/>
                </a:solidFill>
              </a:defRPr>
            </a:lvl5pPr>
            <a:lvl6pPr>
              <a:defRPr sz="2325" b="0">
                <a:solidFill>
                  <a:srgbClr val="F6F6FA"/>
                </a:solidFill>
              </a:defRPr>
            </a:lvl6pPr>
            <a:lvl7pPr>
              <a:defRPr sz="2325" b="0">
                <a:solidFill>
                  <a:srgbClr val="F6F6FA"/>
                </a:solidFill>
              </a:defRPr>
            </a:lvl7pPr>
            <a:lvl8pPr>
              <a:defRPr sz="2325" b="0">
                <a:solidFill>
                  <a:srgbClr val="F6F6FA"/>
                </a:solidFill>
              </a:defRPr>
            </a:lvl8pPr>
            <a:lvl9pPr>
              <a:defRPr sz="2325" b="0">
                <a:solidFill>
                  <a:srgbClr val="F6F6FA"/>
                </a:solidFill>
              </a:defRPr>
            </a:lvl9pPr>
          </a:lstStyle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Повторные оформления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считаются по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customer_unique_id.</a:t>
            </a:r>
          </a:p>
          <a:p>
            <a:endParaRPr sz="2325" b="0">
              <a:solidFill>
                <a:srgbClr val="F6F6FA"/>
              </a:solidFill>
            </a:endParaRP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customer_id связан</a:t>
            </a:r>
          </a:p>
          <a:p>
            <a:pPr>
              <a:defRPr sz="2325" b="0">
                <a:solidFill>
                  <a:srgbClr val="F6F6FA"/>
                </a:solidFill>
              </a:defRPr>
            </a:pPr>
            <a:r>
              <a:rPr sz="2325" b="0">
                <a:solidFill>
                  <a:srgbClr val="F6F6FA"/>
                </a:solidFill>
              </a:rPr>
              <a:t>с конкретным заказом.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79CAF9B-15B3-44AE-834A-6EED530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0" y="8058150"/>
            <a:ext cx="550867" cy="3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8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23553EE-2CAD-4F62-9562-C601B410C1C2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9546C9-100A-4C32-A4E9-610E9A08C5D1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56E221-2007-4AAF-A123-96DA8671FB0C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6A1A3E-F058-4E92-9C9A-4E80840B2043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sz="4650" b="1" dirty="0" err="1">
                <a:solidFill>
                  <a:srgbClr val="F6F6FA"/>
                </a:solidFill>
              </a:rPr>
              <a:t>Сохранённые</a:t>
            </a:r>
            <a:r>
              <a:rPr sz="4650" b="1" dirty="0">
                <a:solidFill>
                  <a:srgbClr val="F6F6FA"/>
                </a:solidFill>
              </a:rPr>
              <a:t> </a:t>
            </a:r>
            <a:r>
              <a:rPr sz="4650" b="1" dirty="0" err="1">
                <a:solidFill>
                  <a:srgbClr val="F6F6FA"/>
                </a:solidFill>
              </a:rPr>
              <a:t>результаты</a:t>
            </a:r>
            <a:r>
              <a:rPr sz="4650" b="1" dirty="0">
                <a:solidFill>
                  <a:srgbClr val="F6F6FA"/>
                </a:solidFill>
              </a:rPr>
              <a:t> Q1–Q5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9DC577-6E67-4F27-B83B-B62D2301409C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4E8711-1EB8-430B-B4F8-706C075B47E6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9D4D07-94F2-4296-9B5B-21117727B22F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 dirty="0">
                <a:solidFill>
                  <a:srgbClr val="7295FF"/>
                </a:solidFill>
              </a:rPr>
              <a:t>0</a:t>
            </a:r>
            <a:r>
              <a:rPr lang="ru-RU" sz="1950" b="1" dirty="0">
                <a:solidFill>
                  <a:srgbClr val="7295FF"/>
                </a:solidFill>
              </a:rPr>
              <a:t>6</a:t>
            </a:r>
            <a:endParaRPr sz="1950" b="1" dirty="0">
              <a:solidFill>
                <a:srgbClr val="7295FF"/>
              </a:solidFill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6F538EE-279C-4C23-A9AA-20F1CE640EFC}"/>
              </a:ext>
            </a:extLst>
          </p:cNvPr>
          <p:cNvGraphicFramePr/>
          <p:nvPr/>
        </p:nvGraphicFramePr>
        <p:xfrm>
          <a:off x="666750" y="2476500"/>
          <a:ext cx="13906500" cy="462915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ВОПРОС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ФАКТИЧЕСКИЙ ОТВЕТ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6FA"/>
                          </a:solidFill>
                        </a:rPr>
                        <a:t>Q1 · Месячная выручка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AAAEBE"/>
                          </a:solidFill>
                        </a:rPr>
                        <a:t>24 месяца, 1 нулевой, итого 13 221 498,11 BRL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6FA"/>
                          </a:solidFill>
                        </a:rPr>
                        <a:t>Q2 · Топ продавцов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AAAEBE"/>
                          </a:solidFill>
                        </a:rPr>
                        <a:t>Выручка лидера 226 987,93 BRL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6FA"/>
                          </a:solidFill>
                        </a:rPr>
                        <a:t>Q3 · Средний чек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AAAEBE"/>
                          </a:solidFill>
                        </a:rPr>
                        <a:t>159,88 BRL с доставкой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6FA"/>
                          </a:solidFill>
                        </a:rPr>
                        <a:t>Q4 · Повторные оформления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AAAEBE"/>
                          </a:solidFill>
                        </a:rPr>
                        <a:t>96 096 покупателей, 2 997 повторных, 3,12%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6FA"/>
                          </a:solidFill>
                        </a:rPr>
                        <a:t>Q5 · Категории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AAAEBE"/>
                          </a:solidFill>
                        </a:rPr>
                        <a:t>74 группы, включая unknown; итого 13 221 498,11 BRL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9CFE92C-8A10-4524-97B5-8CE587574EAF}"/>
              </a:ext>
            </a:extLst>
          </p:cNvPr>
          <p:cNvSpPr>
            <a:spLocks noGrp="1"/>
          </p:cNvSpPr>
          <p:nvPr/>
        </p:nvSpPr>
        <p:spPr>
          <a:xfrm>
            <a:off x="666750" y="7229475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AAAEBE"/>
                </a:solidFill>
              </a:defRPr>
            </a:defPPr>
            <a:lvl1pPr>
              <a:defRPr sz="1650" b="0">
                <a:solidFill>
                  <a:srgbClr val="AAAEBE"/>
                </a:solidFill>
              </a:defRPr>
            </a:lvl1pPr>
            <a:lvl2pPr>
              <a:defRPr sz="1650" b="0">
                <a:solidFill>
                  <a:srgbClr val="AAAEBE"/>
                </a:solidFill>
              </a:defRPr>
            </a:lvl2pPr>
            <a:lvl3pPr>
              <a:defRPr sz="1650" b="0">
                <a:solidFill>
                  <a:srgbClr val="AAAEBE"/>
                </a:solidFill>
              </a:defRPr>
            </a:lvl3pPr>
            <a:lvl4pPr>
              <a:defRPr sz="1650" b="0">
                <a:solidFill>
                  <a:srgbClr val="AAAEBE"/>
                </a:solidFill>
              </a:defRPr>
            </a:lvl4pPr>
            <a:lvl5pPr>
              <a:defRPr sz="1650" b="0">
                <a:solidFill>
                  <a:srgbClr val="AAAEBE"/>
                </a:solidFill>
              </a:defRPr>
            </a:lvl5pPr>
            <a:lvl6pPr>
              <a:defRPr sz="1650" b="0">
                <a:solidFill>
                  <a:srgbClr val="AAAEBE"/>
                </a:solidFill>
              </a:defRPr>
            </a:lvl6pPr>
            <a:lvl7pPr>
              <a:defRPr sz="1650" b="0">
                <a:solidFill>
                  <a:srgbClr val="AAAEBE"/>
                </a:solidFill>
              </a:defRPr>
            </a:lvl7pPr>
            <a:lvl8pPr>
              <a:defRPr sz="1650" b="0">
                <a:solidFill>
                  <a:srgbClr val="AAAEBE"/>
                </a:solidFill>
              </a:defRPr>
            </a:lvl8pPr>
            <a:lvl9pPr>
              <a:defRPr sz="1650" b="0">
                <a:solidFill>
                  <a:srgbClr val="AAAEBE"/>
                </a:solidFill>
              </a:defRPr>
            </a:lvl9pPr>
          </a:lstStyle>
          <a:p>
            <a:pPr>
              <a:defRPr sz="1650" b="0">
                <a:solidFill>
                  <a:srgbClr val="AAAEBE"/>
                </a:solidFill>
              </a:defRPr>
            </a:pPr>
            <a:endParaRPr sz="1650" b="0" dirty="0">
              <a:solidFill>
                <a:srgbClr val="AAAE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6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60814B3-AC02-4509-B99C-5DE08C20CB5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6F5749A-BF05-4CAB-BC0F-1189C4A989CA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8D8197-4C5B-4FF6-B2ED-EFB2C6BC23D4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3D0DBC-765E-4C09-A2FD-9D5DBD263E0A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r>
              <a:rPr sz="4650" b="1" dirty="0" err="1">
                <a:solidFill>
                  <a:srgbClr val="F6F6FA"/>
                </a:solidFill>
              </a:rPr>
              <a:t>Команда</a:t>
            </a:r>
            <a:r>
              <a:rPr sz="4650" b="1" dirty="0">
                <a:solidFill>
                  <a:srgbClr val="F6F6FA"/>
                </a:solidFill>
              </a:rPr>
              <a:t> и </a:t>
            </a:r>
            <a:r>
              <a:rPr sz="4650" b="1" dirty="0" err="1">
                <a:solidFill>
                  <a:srgbClr val="F6F6FA"/>
                </a:solidFill>
              </a:rPr>
              <a:t>ответственность</a:t>
            </a:r>
            <a:endParaRPr sz="4650" b="1" dirty="0">
              <a:solidFill>
                <a:srgbClr val="F6F6FA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114FDB-93F7-4C1A-8841-FB0684E8929B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F1B7DD-84F3-4158-8B28-14A7A6AAB40C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24E60C3-9868-44F9-8AF1-BDE5EA62A9BE}"/>
              </a:ext>
            </a:extLst>
          </p:cNvPr>
          <p:cNvGraphicFramePr/>
          <p:nvPr/>
        </p:nvGraphicFramePr>
        <p:xfrm>
          <a:off x="666750" y="2714625"/>
          <a:ext cx="13906500" cy="43815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УЧАСТНИК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КОНТРАКТ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295FF"/>
                          </a:solidFill>
                        </a:rPr>
                        <a:t>ОТВЕТСТВЕННОСТЬ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>
                      <a:solidFill>
                        <a:srgbClr val="333747"/>
                      </a:solidFill>
                      <a:prstDash val="soli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6F6FA"/>
                          </a:solidFill>
                        </a:rPr>
                        <a:t>Столповский Максим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Архитектура, DDL и интеграция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6F6FA"/>
                          </a:solidFill>
                        </a:rPr>
                        <a:t>Соболев Виталий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Профилирование и четыре этапа ETL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6F6FA"/>
                          </a:solidFill>
                        </a:rPr>
                        <a:t>Копылов Александр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C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Метрики, SQL-запросы и результаты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6F6FA"/>
                          </a:solidFill>
                        </a:rPr>
                        <a:t>Ласкевич Софья</a:t>
                      </a:r>
                    </a:p>
                  </a:txBody>
                  <a:tcPr>
                    <a:lnL w="9525">
                      <a:solidFill>
                        <a:srgbClr val="333747"/>
                      </a:solidFill>
                      <a:prstDash val="soli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D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AAAEBE"/>
                          </a:solidFill>
                        </a:rPr>
                        <a:t>Независимые проверки и материалы защиты</a:t>
                      </a:r>
                    </a:p>
                  </a:txBody>
                  <a:tcPr>
                    <a:lnL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3747"/>
                      </a:solidFill>
                      <a:prstDash val="solid"/>
                    </a:lnR>
                    <a:lnT w="9525" cap="flat" cmpd="sng" algn="ctr">
                      <a:solidFill>
                        <a:srgbClr val="3337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3747"/>
                      </a:solidFill>
                      <a:prstDash val="solid"/>
                    </a:lnB>
                    <a:solidFill>
                      <a:srgbClr val="0809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9246BD-339D-4D68-BE70-F61FA511EB48}"/>
              </a:ext>
            </a:extLst>
          </p:cNvPr>
          <p:cNvSpPr>
            <a:spLocks noGrp="1"/>
          </p:cNvSpPr>
          <p:nvPr/>
        </p:nvSpPr>
        <p:spPr>
          <a:xfrm>
            <a:off x="666750" y="7229475"/>
            <a:ext cx="13906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AAAEBE"/>
                </a:solidFill>
              </a:defRPr>
            </a:defPPr>
            <a:lvl1pPr>
              <a:defRPr sz="1650" b="0">
                <a:solidFill>
                  <a:srgbClr val="AAAEBE"/>
                </a:solidFill>
              </a:defRPr>
            </a:lvl1pPr>
            <a:lvl2pPr>
              <a:defRPr sz="1650" b="0">
                <a:solidFill>
                  <a:srgbClr val="AAAEBE"/>
                </a:solidFill>
              </a:defRPr>
            </a:lvl2pPr>
            <a:lvl3pPr>
              <a:defRPr sz="1650" b="0">
                <a:solidFill>
                  <a:srgbClr val="AAAEBE"/>
                </a:solidFill>
              </a:defRPr>
            </a:lvl3pPr>
            <a:lvl4pPr>
              <a:defRPr sz="1650" b="0">
                <a:solidFill>
                  <a:srgbClr val="AAAEBE"/>
                </a:solidFill>
              </a:defRPr>
            </a:lvl4pPr>
            <a:lvl5pPr>
              <a:defRPr sz="1650" b="0">
                <a:solidFill>
                  <a:srgbClr val="AAAEBE"/>
                </a:solidFill>
              </a:defRPr>
            </a:lvl5pPr>
            <a:lvl6pPr>
              <a:defRPr sz="1650" b="0">
                <a:solidFill>
                  <a:srgbClr val="AAAEBE"/>
                </a:solidFill>
              </a:defRPr>
            </a:lvl6pPr>
            <a:lvl7pPr>
              <a:defRPr sz="1650" b="0">
                <a:solidFill>
                  <a:srgbClr val="AAAEBE"/>
                </a:solidFill>
              </a:defRPr>
            </a:lvl7pPr>
            <a:lvl8pPr>
              <a:defRPr sz="1650" b="0">
                <a:solidFill>
                  <a:srgbClr val="AAAEBE"/>
                </a:solidFill>
              </a:defRPr>
            </a:lvl8pPr>
            <a:lvl9pPr>
              <a:defRPr sz="1650" b="0">
                <a:solidFill>
                  <a:srgbClr val="AAAEBE"/>
                </a:solidFill>
              </a:defRPr>
            </a:lvl9pPr>
          </a:lstStyle>
          <a:p>
            <a:pPr>
              <a:defRPr sz="1650" b="0">
                <a:solidFill>
                  <a:srgbClr val="AAAEBE"/>
                </a:solidFill>
              </a:defRPr>
            </a:pPr>
            <a:endParaRPr sz="1650" b="0" dirty="0">
              <a:solidFill>
                <a:srgbClr val="AAAEB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A74E4-AB83-4984-936A-B8430807EF18}"/>
              </a:ext>
            </a:extLst>
          </p:cNvPr>
          <p:cNvSpPr txBox="1"/>
          <p:nvPr/>
        </p:nvSpPr>
        <p:spPr>
          <a:xfrm>
            <a:off x="13880124" y="8058150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50" b="1">
                <a:solidFill>
                  <a:srgbClr val="7295FF"/>
                </a:solidFill>
              </a:defRPr>
            </a:pPr>
            <a:r>
              <a:rPr lang="ru-RU" sz="1800" b="1" dirty="0">
                <a:solidFill>
                  <a:srgbClr val="7295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708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0D08DF-B03F-49FC-8029-32890D0F834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0EF886-C45C-4B1F-87BD-E4925E637CE6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F4537A-9037-41ED-9F53-8321396E64CB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17EDF6-08B3-4B66-8F65-31BB5A0F41F8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endParaRPr sz="4650" b="1" dirty="0">
              <a:solidFill>
                <a:srgbClr val="F6F6FA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372E34-4B59-44DF-802C-90F560C7BFA4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21BA263-B7F7-4FF2-91CE-7A4912A4F11D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EF9786-98BF-48F8-9D47-D30642212D4F}"/>
              </a:ext>
            </a:extLst>
          </p:cNvPr>
          <p:cNvSpPr>
            <a:spLocks noGrp="1"/>
          </p:cNvSpPr>
          <p:nvPr/>
        </p:nvSpPr>
        <p:spPr>
          <a:xfrm>
            <a:off x="211015" y="3629024"/>
            <a:ext cx="15497908" cy="131445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7295FF"/>
                </a:solidFill>
              </a:defRPr>
            </a:defPPr>
            <a:lvl1pPr>
              <a:defRPr sz="2700" b="1">
                <a:solidFill>
                  <a:srgbClr val="7295FF"/>
                </a:solidFill>
              </a:defRPr>
            </a:lvl1pPr>
            <a:lvl2pPr>
              <a:defRPr sz="2700" b="1">
                <a:solidFill>
                  <a:srgbClr val="7295FF"/>
                </a:solidFill>
              </a:defRPr>
            </a:lvl2pPr>
            <a:lvl3pPr>
              <a:defRPr sz="2700" b="1">
                <a:solidFill>
                  <a:srgbClr val="7295FF"/>
                </a:solidFill>
              </a:defRPr>
            </a:lvl3pPr>
            <a:lvl4pPr>
              <a:defRPr sz="2700" b="1">
                <a:solidFill>
                  <a:srgbClr val="7295FF"/>
                </a:solidFill>
              </a:defRPr>
            </a:lvl4pPr>
            <a:lvl5pPr>
              <a:defRPr sz="2700" b="1">
                <a:solidFill>
                  <a:srgbClr val="7295FF"/>
                </a:solidFill>
              </a:defRPr>
            </a:lvl5pPr>
            <a:lvl6pPr>
              <a:defRPr sz="2700" b="1">
                <a:solidFill>
                  <a:srgbClr val="7295FF"/>
                </a:solidFill>
              </a:defRPr>
            </a:lvl6pPr>
            <a:lvl7pPr>
              <a:defRPr sz="2700" b="1">
                <a:solidFill>
                  <a:srgbClr val="7295FF"/>
                </a:solidFill>
              </a:defRPr>
            </a:lvl7pPr>
            <a:lvl8pPr>
              <a:defRPr sz="2700" b="1">
                <a:solidFill>
                  <a:srgbClr val="7295FF"/>
                </a:solidFill>
              </a:defRPr>
            </a:lvl8pPr>
            <a:lvl9pPr>
              <a:defRPr sz="2700" b="1">
                <a:solidFill>
                  <a:srgbClr val="7295FF"/>
                </a:solidFill>
              </a:defRPr>
            </a:lvl9pPr>
          </a:lstStyle>
          <a:p>
            <a:pPr>
              <a:defRPr sz="2700" b="1">
                <a:solidFill>
                  <a:srgbClr val="7295FF"/>
                </a:solidFill>
              </a:defRPr>
            </a:pPr>
            <a:r>
              <a:rPr lang="ru-RU" sz="6600" dirty="0"/>
              <a:t>И</a:t>
            </a:r>
            <a:r>
              <a:rPr lang="ru-RU" sz="6600" b="1" dirty="0">
                <a:solidFill>
                  <a:srgbClr val="7295FF"/>
                </a:solidFill>
              </a:rPr>
              <a:t>спользование ИИ и проверка решений </a:t>
            </a:r>
            <a:endParaRPr sz="6600" b="1" dirty="0">
              <a:solidFill>
                <a:srgbClr val="7295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724475-9F1E-4265-B13C-933C2172E6DD}"/>
              </a:ext>
            </a:extLst>
          </p:cNvPr>
          <p:cNvSpPr txBox="1"/>
          <p:nvPr/>
        </p:nvSpPr>
        <p:spPr>
          <a:xfrm>
            <a:off x="13870560" y="8024562"/>
            <a:ext cx="7959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50" b="1">
                <a:solidFill>
                  <a:srgbClr val="7295FF"/>
                </a:solidFill>
              </a:defRPr>
            </a:pPr>
            <a:r>
              <a:rPr lang="ru-RU" sz="1800" b="1" dirty="0">
                <a:solidFill>
                  <a:srgbClr val="7295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510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0D08DF-B03F-49FC-8029-32890D0F834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6F6FA"/>
                </a:solidFill>
              </a:defRPr>
            </a:defPPr>
            <a:lvl1pPr>
              <a:defRPr sz="1650" b="1">
                <a:solidFill>
                  <a:srgbClr val="F6F6FA"/>
                </a:solidFill>
              </a:defRPr>
            </a:lvl1pPr>
            <a:lvl2pPr>
              <a:defRPr sz="1650" b="1">
                <a:solidFill>
                  <a:srgbClr val="F6F6FA"/>
                </a:solidFill>
              </a:defRPr>
            </a:lvl2pPr>
            <a:lvl3pPr>
              <a:defRPr sz="1650" b="1">
                <a:solidFill>
                  <a:srgbClr val="F6F6FA"/>
                </a:solidFill>
              </a:defRPr>
            </a:lvl3pPr>
            <a:lvl4pPr>
              <a:defRPr sz="1650" b="1">
                <a:solidFill>
                  <a:srgbClr val="F6F6FA"/>
                </a:solidFill>
              </a:defRPr>
            </a:lvl4pPr>
            <a:lvl5pPr>
              <a:defRPr sz="1650" b="1">
                <a:solidFill>
                  <a:srgbClr val="F6F6FA"/>
                </a:solidFill>
              </a:defRPr>
            </a:lvl5pPr>
            <a:lvl6pPr>
              <a:defRPr sz="1650" b="1">
                <a:solidFill>
                  <a:srgbClr val="F6F6FA"/>
                </a:solidFill>
              </a:defRPr>
            </a:lvl6pPr>
            <a:lvl7pPr>
              <a:defRPr sz="1650" b="1">
                <a:solidFill>
                  <a:srgbClr val="F6F6FA"/>
                </a:solidFill>
              </a:defRPr>
            </a:lvl7pPr>
            <a:lvl8pPr>
              <a:defRPr sz="1650" b="1">
                <a:solidFill>
                  <a:srgbClr val="F6F6FA"/>
                </a:solidFill>
              </a:defRPr>
            </a:lvl8pPr>
            <a:lvl9pPr>
              <a:defRPr sz="1650" b="1">
                <a:solidFill>
                  <a:srgbClr val="F6F6FA"/>
                </a:solidFill>
              </a:defRPr>
            </a:lvl9pPr>
          </a:lstStyle>
          <a:p>
            <a:pPr>
              <a:defRPr sz="1650" b="1">
                <a:solidFill>
                  <a:srgbClr val="F6F6FA"/>
                </a:solidFill>
              </a:defRPr>
            </a:pPr>
            <a:r>
              <a:rPr sz="1650" b="1">
                <a:solidFill>
                  <a:srgbClr val="F6F6FA"/>
                </a:solidFill>
              </a:rPr>
              <a:t>CAPIBARA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0EF886-C45C-4B1F-87BD-E4925E637CE6}"/>
              </a:ext>
            </a:extLst>
          </p:cNvPr>
          <p:cNvSpPr>
            <a:spLocks noGrp="1"/>
          </p:cNvSpPr>
          <p:nvPr/>
        </p:nvSpPr>
        <p:spPr>
          <a:xfrm>
            <a:off x="8572500" y="352425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AAEBE"/>
                </a:solidFill>
              </a:defRPr>
            </a:defPPr>
            <a:lvl1pPr>
              <a:defRPr sz="1350" b="0">
                <a:solidFill>
                  <a:srgbClr val="AAAEBE"/>
                </a:solidFill>
              </a:defRPr>
            </a:lvl1pPr>
            <a:lvl2pPr>
              <a:defRPr sz="1350" b="0">
                <a:solidFill>
                  <a:srgbClr val="AAAEBE"/>
                </a:solidFill>
              </a:defRPr>
            </a:lvl2pPr>
            <a:lvl3pPr>
              <a:defRPr sz="1350" b="0">
                <a:solidFill>
                  <a:srgbClr val="AAAEBE"/>
                </a:solidFill>
              </a:defRPr>
            </a:lvl3pPr>
            <a:lvl4pPr>
              <a:defRPr sz="1350" b="0">
                <a:solidFill>
                  <a:srgbClr val="AAAEBE"/>
                </a:solidFill>
              </a:defRPr>
            </a:lvl4pPr>
            <a:lvl5pPr>
              <a:defRPr sz="1350" b="0">
                <a:solidFill>
                  <a:srgbClr val="AAAEBE"/>
                </a:solidFill>
              </a:defRPr>
            </a:lvl5pPr>
            <a:lvl6pPr>
              <a:defRPr sz="1350" b="0">
                <a:solidFill>
                  <a:srgbClr val="AAAEBE"/>
                </a:solidFill>
              </a:defRPr>
            </a:lvl6pPr>
            <a:lvl7pPr>
              <a:defRPr sz="1350" b="0">
                <a:solidFill>
                  <a:srgbClr val="AAAEBE"/>
                </a:solidFill>
              </a:defRPr>
            </a:lvl7pPr>
            <a:lvl8pPr>
              <a:defRPr sz="1350" b="0">
                <a:solidFill>
                  <a:srgbClr val="AAAEBE"/>
                </a:solidFill>
              </a:defRPr>
            </a:lvl8pPr>
            <a:lvl9pPr>
              <a:defRPr sz="1350" b="0">
                <a:solidFill>
                  <a:srgbClr val="AAAEBE"/>
                </a:solidFill>
              </a:defRPr>
            </a:lvl9pPr>
          </a:lstStyle>
          <a:p>
            <a:pPr>
              <a:defRPr sz="1350" b="0">
                <a:solidFill>
                  <a:srgbClr val="AAAEBE"/>
                </a:solidFill>
              </a:defRPr>
            </a:pPr>
            <a:endParaRPr sz="1350" b="0" dirty="0">
              <a:solidFill>
                <a:srgbClr val="AAAEBE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F4537A-9037-41ED-9F53-8321396E64CB}"/>
              </a:ext>
            </a:extLst>
          </p:cNvPr>
          <p:cNvSpPr>
            <a:spLocks noGrp="1"/>
          </p:cNvSpPr>
          <p:nvPr/>
        </p:nvSpPr>
        <p:spPr>
          <a:xfrm>
            <a:off x="666750" y="866775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17EDF6-08B3-4B66-8F65-31BB5A0F41F8}"/>
              </a:ext>
            </a:extLst>
          </p:cNvPr>
          <p:cNvSpPr>
            <a:spLocks noGrp="1"/>
          </p:cNvSpPr>
          <p:nvPr/>
        </p:nvSpPr>
        <p:spPr>
          <a:xfrm>
            <a:off x="666750" y="1209675"/>
            <a:ext cx="13906500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6F6FA"/>
                </a:solidFill>
              </a:defRPr>
            </a:defPPr>
            <a:lvl1pPr>
              <a:defRPr sz="4650" b="1">
                <a:solidFill>
                  <a:srgbClr val="F6F6FA"/>
                </a:solidFill>
              </a:defRPr>
            </a:lvl1pPr>
            <a:lvl2pPr>
              <a:defRPr sz="4650" b="1">
                <a:solidFill>
                  <a:srgbClr val="F6F6FA"/>
                </a:solidFill>
              </a:defRPr>
            </a:lvl2pPr>
            <a:lvl3pPr>
              <a:defRPr sz="4650" b="1">
                <a:solidFill>
                  <a:srgbClr val="F6F6FA"/>
                </a:solidFill>
              </a:defRPr>
            </a:lvl3pPr>
            <a:lvl4pPr>
              <a:defRPr sz="4650" b="1">
                <a:solidFill>
                  <a:srgbClr val="F6F6FA"/>
                </a:solidFill>
              </a:defRPr>
            </a:lvl4pPr>
            <a:lvl5pPr>
              <a:defRPr sz="4650" b="1">
                <a:solidFill>
                  <a:srgbClr val="F6F6FA"/>
                </a:solidFill>
              </a:defRPr>
            </a:lvl5pPr>
            <a:lvl6pPr>
              <a:defRPr sz="4650" b="1">
                <a:solidFill>
                  <a:srgbClr val="F6F6FA"/>
                </a:solidFill>
              </a:defRPr>
            </a:lvl6pPr>
            <a:lvl7pPr>
              <a:defRPr sz="4650" b="1">
                <a:solidFill>
                  <a:srgbClr val="F6F6FA"/>
                </a:solidFill>
              </a:defRPr>
            </a:lvl7pPr>
            <a:lvl8pPr>
              <a:defRPr sz="4650" b="1">
                <a:solidFill>
                  <a:srgbClr val="F6F6FA"/>
                </a:solidFill>
              </a:defRPr>
            </a:lvl8pPr>
            <a:lvl9pPr>
              <a:defRPr sz="4650" b="1">
                <a:solidFill>
                  <a:srgbClr val="F6F6FA"/>
                </a:solidFill>
              </a:defRPr>
            </a:lvl9pPr>
          </a:lstStyle>
          <a:p>
            <a:pPr>
              <a:defRPr sz="4650" b="1">
                <a:solidFill>
                  <a:srgbClr val="F6F6FA"/>
                </a:solidFill>
              </a:defRPr>
            </a:pPr>
            <a:endParaRPr sz="4650" b="1" dirty="0">
              <a:solidFill>
                <a:srgbClr val="F6F6FA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372E34-4B59-44DF-802C-90F560C7BFA4}"/>
              </a:ext>
            </a:extLst>
          </p:cNvPr>
          <p:cNvSpPr>
            <a:spLocks noGrp="1"/>
          </p:cNvSpPr>
          <p:nvPr/>
        </p:nvSpPr>
        <p:spPr>
          <a:xfrm>
            <a:off x="666750" y="7848600"/>
            <a:ext cx="13906500" cy="19050"/>
          </a:xfrm>
          <a:prstGeom prst="rect">
            <a:avLst/>
          </a:prstGeom>
          <a:solidFill>
            <a:srgbClr val="333747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21BA263-B7F7-4FF2-91CE-7A4912A4F11D}"/>
              </a:ext>
            </a:extLst>
          </p:cNvPr>
          <p:cNvSpPr>
            <a:spLocks noGrp="1"/>
          </p:cNvSpPr>
          <p:nvPr/>
        </p:nvSpPr>
        <p:spPr>
          <a:xfrm>
            <a:off x="666750" y="8058150"/>
            <a:ext cx="1219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AAAEBE"/>
                </a:solidFill>
              </a:defRPr>
            </a:defPPr>
            <a:lvl1pPr>
              <a:defRPr sz="1275" b="0">
                <a:solidFill>
                  <a:srgbClr val="AAAEBE"/>
                </a:solidFill>
              </a:defRPr>
            </a:lvl1pPr>
            <a:lvl2pPr>
              <a:defRPr sz="1275" b="0">
                <a:solidFill>
                  <a:srgbClr val="AAAEBE"/>
                </a:solidFill>
              </a:defRPr>
            </a:lvl2pPr>
            <a:lvl3pPr>
              <a:defRPr sz="1275" b="0">
                <a:solidFill>
                  <a:srgbClr val="AAAEBE"/>
                </a:solidFill>
              </a:defRPr>
            </a:lvl3pPr>
            <a:lvl4pPr>
              <a:defRPr sz="1275" b="0">
                <a:solidFill>
                  <a:srgbClr val="AAAEBE"/>
                </a:solidFill>
              </a:defRPr>
            </a:lvl4pPr>
            <a:lvl5pPr>
              <a:defRPr sz="1275" b="0">
                <a:solidFill>
                  <a:srgbClr val="AAAEBE"/>
                </a:solidFill>
              </a:defRPr>
            </a:lvl5pPr>
            <a:lvl6pPr>
              <a:defRPr sz="1275" b="0">
                <a:solidFill>
                  <a:srgbClr val="AAAEBE"/>
                </a:solidFill>
              </a:defRPr>
            </a:lvl6pPr>
            <a:lvl7pPr>
              <a:defRPr sz="1275" b="0">
                <a:solidFill>
                  <a:srgbClr val="AAAEBE"/>
                </a:solidFill>
              </a:defRPr>
            </a:lvl7pPr>
            <a:lvl8pPr>
              <a:defRPr sz="1275" b="0">
                <a:solidFill>
                  <a:srgbClr val="AAAEBE"/>
                </a:solidFill>
              </a:defRPr>
            </a:lvl8pPr>
            <a:lvl9pPr>
              <a:defRPr sz="1275" b="0">
                <a:solidFill>
                  <a:srgbClr val="AAAEBE"/>
                </a:solidFill>
              </a:defRPr>
            </a:lvl9pPr>
          </a:lstStyle>
          <a:p>
            <a:pPr>
              <a:defRPr sz="1275" b="0">
                <a:solidFill>
                  <a:srgbClr val="AAAEBE"/>
                </a:solidFill>
              </a:defRPr>
            </a:pPr>
            <a:r>
              <a:rPr sz="1275" b="0">
                <a:solidFill>
                  <a:srgbClr val="AAAEBE"/>
                </a:solidFill>
              </a:rPr>
              <a:t>RWB-TECH HACK / МОДЕЛЬ МАРКЕТПЛЕЙСА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8E5E62-5EC9-48E0-AD80-8A985A0843C3}"/>
              </a:ext>
            </a:extLst>
          </p:cNvPr>
          <p:cNvSpPr>
            <a:spLocks noGrp="1"/>
          </p:cNvSpPr>
          <p:nvPr/>
        </p:nvSpPr>
        <p:spPr>
          <a:xfrm>
            <a:off x="13811250" y="79914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7295FF"/>
                </a:solidFill>
              </a:defRPr>
            </a:defPPr>
            <a:lvl1pPr>
              <a:defRPr sz="1950" b="1">
                <a:solidFill>
                  <a:srgbClr val="7295FF"/>
                </a:solidFill>
              </a:defRPr>
            </a:lvl1pPr>
            <a:lvl2pPr>
              <a:defRPr sz="1950" b="1">
                <a:solidFill>
                  <a:srgbClr val="7295FF"/>
                </a:solidFill>
              </a:defRPr>
            </a:lvl2pPr>
            <a:lvl3pPr>
              <a:defRPr sz="1950" b="1">
                <a:solidFill>
                  <a:srgbClr val="7295FF"/>
                </a:solidFill>
              </a:defRPr>
            </a:lvl3pPr>
            <a:lvl4pPr>
              <a:defRPr sz="1950" b="1">
                <a:solidFill>
                  <a:srgbClr val="7295FF"/>
                </a:solidFill>
              </a:defRPr>
            </a:lvl4pPr>
            <a:lvl5pPr>
              <a:defRPr sz="1950" b="1">
                <a:solidFill>
                  <a:srgbClr val="7295FF"/>
                </a:solidFill>
              </a:defRPr>
            </a:lvl5pPr>
            <a:lvl6pPr>
              <a:defRPr sz="1950" b="1">
                <a:solidFill>
                  <a:srgbClr val="7295FF"/>
                </a:solidFill>
              </a:defRPr>
            </a:lvl6pPr>
            <a:lvl7pPr>
              <a:defRPr sz="1950" b="1">
                <a:solidFill>
                  <a:srgbClr val="7295FF"/>
                </a:solidFill>
              </a:defRPr>
            </a:lvl7pPr>
            <a:lvl8pPr>
              <a:defRPr sz="1950" b="1">
                <a:solidFill>
                  <a:srgbClr val="7295FF"/>
                </a:solidFill>
              </a:defRPr>
            </a:lvl8pPr>
            <a:lvl9pPr>
              <a:defRPr sz="1950" b="1">
                <a:solidFill>
                  <a:srgbClr val="7295FF"/>
                </a:solidFill>
              </a:defRPr>
            </a:lvl9pPr>
          </a:lstStyle>
          <a:p>
            <a:pPr>
              <a:defRPr sz="1950" b="1">
                <a:solidFill>
                  <a:srgbClr val="7295FF"/>
                </a:solidFill>
              </a:defRPr>
            </a:pPr>
            <a:r>
              <a:rPr sz="1950" b="1">
                <a:solidFill>
                  <a:srgbClr val="7295FF"/>
                </a:solidFill>
              </a:rPr>
              <a:t>16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EF9786-98BF-48F8-9D47-D30642212D4F}"/>
              </a:ext>
            </a:extLst>
          </p:cNvPr>
          <p:cNvSpPr>
            <a:spLocks noGrp="1"/>
          </p:cNvSpPr>
          <p:nvPr/>
        </p:nvSpPr>
        <p:spPr>
          <a:xfrm>
            <a:off x="211015" y="3629024"/>
            <a:ext cx="15497908" cy="131445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7295FF"/>
                </a:solidFill>
              </a:defRPr>
            </a:defPPr>
            <a:lvl1pPr>
              <a:defRPr sz="2700" b="1">
                <a:solidFill>
                  <a:srgbClr val="7295FF"/>
                </a:solidFill>
              </a:defRPr>
            </a:lvl1pPr>
            <a:lvl2pPr>
              <a:defRPr sz="2700" b="1">
                <a:solidFill>
                  <a:srgbClr val="7295FF"/>
                </a:solidFill>
              </a:defRPr>
            </a:lvl2pPr>
            <a:lvl3pPr>
              <a:defRPr sz="2700" b="1">
                <a:solidFill>
                  <a:srgbClr val="7295FF"/>
                </a:solidFill>
              </a:defRPr>
            </a:lvl3pPr>
            <a:lvl4pPr>
              <a:defRPr sz="2700" b="1">
                <a:solidFill>
                  <a:srgbClr val="7295FF"/>
                </a:solidFill>
              </a:defRPr>
            </a:lvl4pPr>
            <a:lvl5pPr>
              <a:defRPr sz="2700" b="1">
                <a:solidFill>
                  <a:srgbClr val="7295FF"/>
                </a:solidFill>
              </a:defRPr>
            </a:lvl5pPr>
            <a:lvl6pPr>
              <a:defRPr sz="2700" b="1">
                <a:solidFill>
                  <a:srgbClr val="7295FF"/>
                </a:solidFill>
              </a:defRPr>
            </a:lvl6pPr>
            <a:lvl7pPr>
              <a:defRPr sz="2700" b="1">
                <a:solidFill>
                  <a:srgbClr val="7295FF"/>
                </a:solidFill>
              </a:defRPr>
            </a:lvl7pPr>
            <a:lvl8pPr>
              <a:defRPr sz="2700" b="1">
                <a:solidFill>
                  <a:srgbClr val="7295FF"/>
                </a:solidFill>
              </a:defRPr>
            </a:lvl8pPr>
            <a:lvl9pPr>
              <a:defRPr sz="2700" b="1">
                <a:solidFill>
                  <a:srgbClr val="7295FF"/>
                </a:solidFill>
              </a:defRPr>
            </a:lvl9pPr>
          </a:lstStyle>
          <a:p>
            <a:pPr>
              <a:defRPr sz="2700" b="1">
                <a:solidFill>
                  <a:srgbClr val="7295FF"/>
                </a:solidFill>
              </a:defRPr>
            </a:pPr>
            <a:r>
              <a:rPr lang="ru-RU" sz="6600" dirty="0"/>
              <a:t>И</a:t>
            </a:r>
            <a:r>
              <a:rPr lang="ru-RU" sz="6600" b="1" dirty="0">
                <a:solidFill>
                  <a:srgbClr val="7295FF"/>
                </a:solidFill>
              </a:rPr>
              <a:t>спользование ИИ и проверка решений </a:t>
            </a:r>
            <a:endParaRPr sz="6600" b="1" dirty="0">
              <a:solidFill>
                <a:srgbClr val="7295FF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4EC44B-1E6A-4E88-B96B-3BD7EE984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40"/>
            <a:ext cx="15239999" cy="85761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85B4A5-DCD2-49CE-B23A-63A0C7E72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18" y="1754439"/>
            <a:ext cx="10063596" cy="416105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89A138-C52A-4CEA-B6D6-26E6E64AC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7160961"/>
            <a:ext cx="10220327" cy="4572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EE8007-E3CF-43A6-B835-26A58D9AB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039" y="352425"/>
            <a:ext cx="3459505" cy="5026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99AED20-6276-4678-AD66-9FEFE8EDAB8B}"/>
              </a:ext>
            </a:extLst>
          </p:cNvPr>
          <p:cNvSpPr txBox="1"/>
          <p:nvPr/>
        </p:nvSpPr>
        <p:spPr>
          <a:xfrm>
            <a:off x="1307124" y="2594311"/>
            <a:ext cx="79599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50" b="1">
                <a:solidFill>
                  <a:srgbClr val="F6F6FA"/>
                </a:solidFill>
              </a:defRPr>
            </a:pPr>
            <a:r>
              <a:rPr lang="ru-RU" sz="6000" b="1" dirty="0">
                <a:solidFill>
                  <a:srgbClr val="F6F6FA"/>
                </a:solidFill>
              </a:rPr>
              <a:t>Спасибо за внимание!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D92530E-80CD-45AB-8735-D67216507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4791319"/>
            <a:ext cx="2975936" cy="29759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633270-AC0A-4171-85A5-8BE29AC43985}"/>
              </a:ext>
            </a:extLst>
          </p:cNvPr>
          <p:cNvSpPr txBox="1"/>
          <p:nvPr/>
        </p:nvSpPr>
        <p:spPr>
          <a:xfrm>
            <a:off x="1529726" y="4393773"/>
            <a:ext cx="7959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50" b="1">
                <a:solidFill>
                  <a:srgbClr val="F6F6FA"/>
                </a:solidFill>
              </a:defRPr>
            </a:pPr>
            <a:r>
              <a:rPr lang="en-US" sz="2400" b="1" dirty="0">
                <a:solidFill>
                  <a:srgbClr val="F6F6FA"/>
                </a:solidFill>
              </a:rPr>
              <a:t>GitHub</a:t>
            </a:r>
            <a:endParaRPr lang="ru-RU" sz="2400" b="1" dirty="0">
              <a:solidFill>
                <a:srgbClr val="F6F6FA"/>
              </a:solidFill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0A9F4FB-7C1B-4324-92E1-C3720ECD4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7680" y="8019026"/>
            <a:ext cx="875570" cy="46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679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1480</Words>
  <Application>Microsoft Office PowerPoint</Application>
  <DocSecurity>0</DocSecurity>
  <PresentationFormat>Произвольный</PresentationFormat>
  <Paragraphs>131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Aptos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Соня Ласкевич</cp:lastModifiedBy>
  <cp:revision>8</cp:revision>
  <dcterms:created xsi:type="dcterms:W3CDTF">2026-10-28T09:19:11Z</dcterms:created>
  <dcterms:modified xsi:type="dcterms:W3CDTF">2026-10-28T15:36:57Z</dcterms:modified>
</cp:coreProperties>
</file>